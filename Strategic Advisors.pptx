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7AB89-7635-4083-8AF3-352CFFE36DBD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7728F-DA84-47B7-ADB5-954363348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010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7AB89-7635-4083-8AF3-352CFFE36DBD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7728F-DA84-47B7-ADB5-954363348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146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7AB89-7635-4083-8AF3-352CFFE36DBD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7728F-DA84-47B7-ADB5-954363348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528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7AB89-7635-4083-8AF3-352CFFE36DBD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7728F-DA84-47B7-ADB5-954363348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684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7AB89-7635-4083-8AF3-352CFFE36DBD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7728F-DA84-47B7-ADB5-954363348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105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7AB89-7635-4083-8AF3-352CFFE36DBD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7728F-DA84-47B7-ADB5-954363348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7AB89-7635-4083-8AF3-352CFFE36DBD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7728F-DA84-47B7-ADB5-954363348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372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7AB89-7635-4083-8AF3-352CFFE36DBD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7728F-DA84-47B7-ADB5-954363348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702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7AB89-7635-4083-8AF3-352CFFE36DBD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7728F-DA84-47B7-ADB5-954363348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050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7AB89-7635-4083-8AF3-352CFFE36DBD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7728F-DA84-47B7-ADB5-954363348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002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7AB89-7635-4083-8AF3-352CFFE36DBD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7728F-DA84-47B7-ADB5-954363348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85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7AB89-7635-4083-8AF3-352CFFE36DBD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17728F-DA84-47B7-ADB5-954363348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292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2280" y="2282286"/>
            <a:ext cx="9144000" cy="1655762"/>
          </a:xfrm>
        </p:spPr>
        <p:txBody>
          <a:bodyPr>
            <a:normAutofit/>
          </a:bodyPr>
          <a:lstStyle/>
          <a:p>
            <a:r>
              <a:rPr lang="en-GB" sz="4000" dirty="0" smtClean="0"/>
              <a:t>Strategic Advisory Board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840478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54" b="14336"/>
          <a:stretch/>
        </p:blipFill>
        <p:spPr>
          <a:xfrm>
            <a:off x="3715843" y="655295"/>
            <a:ext cx="1672770" cy="21196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 flipH="1">
            <a:off x="291611" y="2919486"/>
            <a:ext cx="2846895" cy="4160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 smtClean="0"/>
              <a:t>Alex Sullivan </a:t>
            </a:r>
            <a:r>
              <a:rPr lang="en-GB" sz="1600" b="1" dirty="0" err="1" smtClean="0"/>
              <a:t>Esq.</a:t>
            </a:r>
            <a:r>
              <a:rPr lang="en-GB" sz="1600" b="1" dirty="0" smtClean="0"/>
              <a:t> </a:t>
            </a:r>
          </a:p>
          <a:p>
            <a:pPr algn="ctr"/>
            <a:r>
              <a:rPr lang="en-GB" sz="1600" b="1" dirty="0" smtClean="0"/>
              <a:t>Legal &amp; Compliance </a:t>
            </a:r>
          </a:p>
          <a:p>
            <a:pPr algn="ctr"/>
            <a:endParaRPr lang="en-GB" sz="1400" b="1" dirty="0" smtClean="0"/>
          </a:p>
          <a:p>
            <a:pPr marL="285750" lvl="0" indent="-28575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1600" dirty="0" smtClean="0">
                <a:solidFill>
                  <a:srgbClr val="32363F"/>
                </a:solidFill>
              </a:rPr>
              <a:t>A corporate lawyer </a:t>
            </a:r>
            <a:r>
              <a:rPr lang="en-GB" sz="1600" dirty="0" err="1" smtClean="0">
                <a:solidFill>
                  <a:srgbClr val="32363F"/>
                </a:solidFill>
              </a:rPr>
              <a:t>bbby</a:t>
            </a:r>
            <a:r>
              <a:rPr lang="en-GB" sz="1600" dirty="0" smtClean="0">
                <a:solidFill>
                  <a:srgbClr val="32363F"/>
                </a:solidFill>
              </a:rPr>
              <a:t> profession, Alex handles and guides EGL with </a:t>
            </a:r>
            <a:r>
              <a:rPr lang="en-GB" sz="1600" dirty="0">
                <a:solidFill>
                  <a:srgbClr val="32363F"/>
                </a:solidFill>
              </a:rPr>
              <a:t>all legal and fiduciary </a:t>
            </a:r>
            <a:r>
              <a:rPr lang="en-GB" sz="1600" dirty="0" smtClean="0">
                <a:solidFill>
                  <a:srgbClr val="32363F"/>
                </a:solidFill>
              </a:rPr>
              <a:t>matters.</a:t>
            </a:r>
            <a:endParaRPr lang="en-GB" sz="1600" dirty="0">
              <a:solidFill>
                <a:srgbClr val="32363F"/>
              </a:solidFill>
            </a:endParaRPr>
          </a:p>
          <a:p>
            <a:pPr marL="285750" lvl="0" indent="-28575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1600" dirty="0" smtClean="0">
                <a:solidFill>
                  <a:srgbClr val="32363F"/>
                </a:solidFill>
              </a:rPr>
              <a:t>Alex </a:t>
            </a:r>
            <a:r>
              <a:rPr lang="en-GB" sz="1600" dirty="0">
                <a:solidFill>
                  <a:srgbClr val="32363F"/>
                </a:solidFill>
              </a:rPr>
              <a:t>is a project advisory specialist for financial control &amp; audit as well</a:t>
            </a:r>
            <a:r>
              <a:rPr lang="en-GB" sz="1600" dirty="0" smtClean="0">
                <a:solidFill>
                  <a:srgbClr val="32363F"/>
                </a:solidFill>
              </a:rPr>
              <a:t>.</a:t>
            </a:r>
          </a:p>
          <a:p>
            <a:pPr marL="285750" lvl="0" indent="-28575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1600" dirty="0" smtClean="0">
                <a:solidFill>
                  <a:srgbClr val="32363F"/>
                </a:solidFill>
              </a:rPr>
              <a:t>His company, BFL </a:t>
            </a:r>
            <a:r>
              <a:rPr lang="en-GB" sz="1600" dirty="0">
                <a:solidFill>
                  <a:srgbClr val="32363F"/>
                </a:solidFill>
              </a:rPr>
              <a:t>L</a:t>
            </a:r>
            <a:r>
              <a:rPr lang="en-GB" sz="1600" dirty="0" smtClean="0">
                <a:solidFill>
                  <a:srgbClr val="32363F"/>
                </a:solidFill>
              </a:rPr>
              <a:t>aw is based in the UK but has presence in the US and EU as well  </a:t>
            </a:r>
          </a:p>
          <a:p>
            <a:pPr marL="285750" lvl="0" indent="-28575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GB" sz="1400" dirty="0">
              <a:solidFill>
                <a:srgbClr val="32363F"/>
              </a:solidFill>
            </a:endParaRPr>
          </a:p>
          <a:p>
            <a:endParaRPr lang="en-US" sz="1400" dirty="0"/>
          </a:p>
        </p:txBody>
      </p:sp>
      <p:sp>
        <p:nvSpPr>
          <p:cNvPr id="13" name="TextBox 12"/>
          <p:cNvSpPr txBox="1"/>
          <p:nvPr/>
        </p:nvSpPr>
        <p:spPr>
          <a:xfrm flipH="1">
            <a:off x="3231270" y="2918460"/>
            <a:ext cx="2678644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 smtClean="0"/>
              <a:t>Faisal Sarker</a:t>
            </a:r>
          </a:p>
          <a:p>
            <a:pPr algn="ctr"/>
            <a:r>
              <a:rPr lang="en-GB" sz="1600" b="1" dirty="0" smtClean="0"/>
              <a:t>Technology</a:t>
            </a:r>
          </a:p>
          <a:p>
            <a:endParaRPr lang="en-GB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 smtClean="0"/>
              <a:t>Faisal is a veteran software and technology expert having almost 25 years of experience.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 smtClean="0"/>
              <a:t>He has worked with numerous projects globally including World bank certified projects, multi-national entities and government.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 smtClean="0"/>
              <a:t>He is based in Bangladesh.</a:t>
            </a:r>
          </a:p>
          <a:p>
            <a:endParaRPr lang="en-GB" sz="1400" dirty="0" smtClean="0"/>
          </a:p>
          <a:p>
            <a:endParaRPr lang="en-US" sz="1400" dirty="0"/>
          </a:p>
        </p:txBody>
      </p:sp>
      <p:sp>
        <p:nvSpPr>
          <p:cNvPr id="16" name="TextBox 15"/>
          <p:cNvSpPr txBox="1"/>
          <p:nvPr/>
        </p:nvSpPr>
        <p:spPr>
          <a:xfrm flipH="1">
            <a:off x="8905319" y="2983253"/>
            <a:ext cx="3113856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 err="1" smtClean="0"/>
              <a:t>Emre</a:t>
            </a:r>
            <a:r>
              <a:rPr lang="en-GB" sz="1600" b="1" dirty="0"/>
              <a:t> </a:t>
            </a:r>
            <a:r>
              <a:rPr lang="en-GB" sz="1600" b="1" dirty="0" err="1" smtClean="0"/>
              <a:t>Aytekin</a:t>
            </a:r>
            <a:endParaRPr lang="en-GB" sz="1600" b="1" dirty="0" smtClean="0"/>
          </a:p>
          <a:p>
            <a:pPr algn="ctr"/>
            <a:r>
              <a:rPr lang="en-GB" sz="1600" b="1" dirty="0" smtClean="0"/>
              <a:t>   Project Partnership </a:t>
            </a:r>
          </a:p>
          <a:p>
            <a:endParaRPr lang="en-GB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Emre</a:t>
            </a:r>
            <a:r>
              <a:rPr lang="en-GB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key Advisor for global networking for us.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 is also supporting us for international collaboration for financing and project management  services.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 is an expert on project financing and institutional collaborations as well including donor cycles and consulting. 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Emre</a:t>
            </a:r>
            <a:r>
              <a:rPr lang="en-GB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based out of Turkey. </a:t>
            </a:r>
          </a:p>
          <a:p>
            <a:endParaRPr lang="en-US" sz="1400" dirty="0"/>
          </a:p>
        </p:txBody>
      </p:sp>
      <p:sp>
        <p:nvSpPr>
          <p:cNvPr id="17" name="TextBox 16"/>
          <p:cNvSpPr txBox="1"/>
          <p:nvPr/>
        </p:nvSpPr>
        <p:spPr>
          <a:xfrm flipH="1">
            <a:off x="6002678" y="2983253"/>
            <a:ext cx="2717114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 err="1" smtClean="0"/>
              <a:t>Fumiko</a:t>
            </a:r>
            <a:r>
              <a:rPr lang="en-GB" sz="1600" b="1" dirty="0" smtClean="0"/>
              <a:t> </a:t>
            </a:r>
            <a:r>
              <a:rPr lang="en-GB" sz="1600" b="1" dirty="0" err="1" smtClean="0"/>
              <a:t>Kamioka</a:t>
            </a:r>
            <a:r>
              <a:rPr lang="en-GB" sz="1600" b="1" dirty="0" smtClean="0"/>
              <a:t>        </a:t>
            </a:r>
          </a:p>
          <a:p>
            <a:pPr algn="ctr"/>
            <a:r>
              <a:rPr lang="en-GB" sz="1600" b="1" dirty="0" smtClean="0"/>
              <a:t>Structured Finance</a:t>
            </a:r>
          </a:p>
          <a:p>
            <a:pPr algn="ctr"/>
            <a:endParaRPr lang="en-GB" sz="1400" b="1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b="0" dirty="0" smtClean="0"/>
              <a:t>A former senior banker with experience in Japan, Singapore and Vietnamese markets.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b="0" dirty="0" err="1" smtClean="0"/>
              <a:t>Fumiko</a:t>
            </a:r>
            <a:r>
              <a:rPr lang="en-GB" sz="1600" b="0" dirty="0" smtClean="0"/>
              <a:t> have been involved in project finance, strategic guidance and fund management processes at EGL.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 smtClean="0"/>
              <a:t>She is currently based in Singapore.   </a:t>
            </a:r>
            <a:endParaRPr lang="en-US" sz="16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3"/>
          <a:srcRect l="8987" r="10966"/>
          <a:stretch/>
        </p:blipFill>
        <p:spPr>
          <a:xfrm>
            <a:off x="6662172" y="647256"/>
            <a:ext cx="1609716" cy="2107545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4"/>
          <a:srcRect l="10990" t="6763" r="13545"/>
          <a:stretch/>
        </p:blipFill>
        <p:spPr>
          <a:xfrm>
            <a:off x="938616" y="647256"/>
            <a:ext cx="1685184" cy="2082077"/>
          </a:xfrm>
          <a:prstGeom prst="rect">
            <a:avLst/>
          </a:prstGeom>
        </p:spPr>
      </p:pic>
      <p:cxnSp>
        <p:nvCxnSpPr>
          <p:cNvPr id="27" name="Straight Connector 26"/>
          <p:cNvCxnSpPr/>
          <p:nvPr/>
        </p:nvCxnSpPr>
        <p:spPr>
          <a:xfrm flipH="1">
            <a:off x="8804635" y="2983253"/>
            <a:ext cx="28280" cy="3681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5968178" y="2983253"/>
            <a:ext cx="28280" cy="3681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>
            <a:off x="3209209" y="2918460"/>
            <a:ext cx="28280" cy="3681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5"/>
          <a:srcRect l="7910" r="8004"/>
          <a:stretch/>
        </p:blipFill>
        <p:spPr>
          <a:xfrm>
            <a:off x="9653047" y="655295"/>
            <a:ext cx="1791093" cy="2074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77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 flipH="1">
            <a:off x="3058455" y="3107904"/>
            <a:ext cx="281976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 smtClean="0"/>
              <a:t>Roberto </a:t>
            </a:r>
            <a:r>
              <a:rPr lang="en-GB" sz="1600" b="1" dirty="0" err="1" smtClean="0"/>
              <a:t>Mangano</a:t>
            </a:r>
            <a:endParaRPr lang="en-GB" sz="1600" b="1" dirty="0" smtClean="0"/>
          </a:p>
          <a:p>
            <a:pPr algn="ctr"/>
            <a:r>
              <a:rPr lang="en-GB" sz="1600" b="1" dirty="0" smtClean="0"/>
              <a:t>Technical Advisory  </a:t>
            </a:r>
          </a:p>
          <a:p>
            <a:endParaRPr lang="en-GB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 smtClean="0"/>
              <a:t>As a senior engineer, Roberto has worked with globally acclaimed EPC giants like ILF consulting.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 smtClean="0"/>
              <a:t>He has handled many top projects in the UAE, Africa and EU markets- with a deep focus in infrastructure development.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 smtClean="0"/>
              <a:t>Roberto is currently based in the UAE. </a:t>
            </a:r>
            <a:endParaRPr lang="en-US" sz="160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795" y="853557"/>
            <a:ext cx="1806468" cy="208760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 flipH="1">
            <a:off x="5929720" y="3086384"/>
            <a:ext cx="292074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 err="1" smtClean="0"/>
              <a:t>Sayma</a:t>
            </a:r>
            <a:r>
              <a:rPr lang="en-GB" sz="1600" b="1" dirty="0" smtClean="0"/>
              <a:t> Rahman</a:t>
            </a:r>
          </a:p>
          <a:p>
            <a:pPr algn="ctr"/>
            <a:r>
              <a:rPr lang="en-GB" sz="1600" b="1" dirty="0" smtClean="0"/>
              <a:t>Venture Mentorship </a:t>
            </a:r>
          </a:p>
          <a:p>
            <a:endParaRPr lang="en-GB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 err="1" smtClean="0"/>
              <a:t>Sayma</a:t>
            </a:r>
            <a:r>
              <a:rPr lang="en-GB" sz="1600" dirty="0" smtClean="0"/>
              <a:t> is a strategic expert  and a pioneering figure in her market as an Angel investor, she has worked with many seed to growth stage ventures in guiding them to success.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 smtClean="0"/>
              <a:t>She ran her own entity SR Consulting focusing in the same areas.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 smtClean="0"/>
              <a:t>She is </a:t>
            </a:r>
            <a:r>
              <a:rPr lang="en-GB" sz="1600" dirty="0" smtClean="0"/>
              <a:t>currently based  </a:t>
            </a:r>
            <a:r>
              <a:rPr lang="en-GB" sz="1600" dirty="0" smtClean="0"/>
              <a:t>in Australia. </a:t>
            </a:r>
            <a:endParaRPr lang="en-US" sz="1600" dirty="0"/>
          </a:p>
        </p:txBody>
      </p:sp>
      <p:sp>
        <p:nvSpPr>
          <p:cNvPr id="3" name="Rectangle 2"/>
          <p:cNvSpPr/>
          <p:nvPr/>
        </p:nvSpPr>
        <p:spPr>
          <a:xfrm>
            <a:off x="368635" y="3107904"/>
            <a:ext cx="247545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Patricia </a:t>
            </a:r>
            <a:r>
              <a:rPr lang="en-GB" sz="1600" b="1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Issa</a:t>
            </a:r>
            <a:endParaRPr lang="en-GB" sz="16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GB" sz="16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Development </a:t>
            </a:r>
          </a:p>
          <a:p>
            <a:pPr algn="ctr"/>
            <a:endParaRPr lang="en-GB" sz="16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global networker, </a:t>
            </a:r>
            <a:r>
              <a:rPr lang="en-GB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Patricia is our key Advisor for </a:t>
            </a:r>
            <a:r>
              <a:rPr lang="en-GB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development for sourcing projects and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Patricia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a global networker and business specialist</a:t>
            </a:r>
            <a:r>
              <a:rPr lang="en-GB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She is based out of Italy &amp; Lebanon.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912"/>
          <a:stretch/>
        </p:blipFill>
        <p:spPr>
          <a:xfrm>
            <a:off x="9598633" y="853557"/>
            <a:ext cx="1758324" cy="208760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907151" y="3107904"/>
            <a:ext cx="2950264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Peter </a:t>
            </a:r>
            <a:r>
              <a:rPr lang="en-GB" sz="1600" b="1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Koh</a:t>
            </a:r>
            <a:endParaRPr lang="en-GB" sz="16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GB" sz="16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Government Relations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sz="16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Peter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a former </a:t>
            </a:r>
            <a:r>
              <a:rPr lang="en-GB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diplomat, entrepreneur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key Advisor for global networking </a:t>
            </a:r>
            <a:r>
              <a:rPr lang="en-GB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 EGL.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Peter has his own company called Cord Engineering in the line of projects and guides us for global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international collaboration for </a:t>
            </a:r>
            <a:r>
              <a:rPr lang="en-GB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government backed organizations. 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Peter is based in Singapore.</a:t>
            </a: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8860834" y="3037502"/>
            <a:ext cx="57053" cy="3465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978683" y="3107904"/>
            <a:ext cx="0" cy="35340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2895598" y="2987498"/>
            <a:ext cx="0" cy="35340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/>
          <a:srcRect l="9505" t="6233" r="16922" b="36516"/>
          <a:stretch/>
        </p:blipFill>
        <p:spPr>
          <a:xfrm>
            <a:off x="3653050" y="843233"/>
            <a:ext cx="1837007" cy="214426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371" y="857038"/>
            <a:ext cx="1799942" cy="2130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698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401</Words>
  <Application>Microsoft Office PowerPoint</Application>
  <PresentationFormat>Widescreen</PresentationFormat>
  <Paragraphs>50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List of Advisors</dc:title>
  <dc:creator>Faisal Sarker</dc:creator>
  <cp:lastModifiedBy>Faisal Sarker</cp:lastModifiedBy>
  <cp:revision>19</cp:revision>
  <dcterms:created xsi:type="dcterms:W3CDTF">2026-09-24T20:28:17Z</dcterms:created>
  <dcterms:modified xsi:type="dcterms:W3CDTF">2026-09-25T13:20:49Z</dcterms:modified>
</cp:coreProperties>
</file>