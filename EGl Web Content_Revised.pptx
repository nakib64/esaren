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3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9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0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3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0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7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11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0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7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19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022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0026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405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722788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5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83513-9F7E-4A97-B8D0-8FEC909A64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4B845-51E6-4AAE-B679-7D19451DD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nith-ventureadvisory.com/" TargetMode="External"/><Relationship Id="rId2" Type="http://schemas.openxmlformats.org/officeDocument/2006/relationships/hyperlink" Target="http://www.whitespaceint.ca/" TargetMode="Externa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470" y="209998"/>
            <a:ext cx="5029247" cy="721160"/>
          </a:xfrm>
        </p:spPr>
        <p:txBody>
          <a:bodyPr/>
          <a:lstStyle/>
          <a:p>
            <a:r>
              <a:rPr lang="en-GB" dirty="0" smtClean="0"/>
              <a:t>Introduction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227" y="1016000"/>
            <a:ext cx="5618375" cy="4978399"/>
          </a:xfrm>
        </p:spPr>
        <p:txBody>
          <a:bodyPr>
            <a:no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lang="en-GB" sz="1800" b="1" spc="-10" dirty="0" err="1">
                <a:solidFill>
                  <a:srgbClr val="001F5F"/>
                </a:solidFill>
                <a:latin typeface="+mj-lt"/>
                <a:cs typeface="Calibri"/>
              </a:rPr>
              <a:t>Esaren</a:t>
            </a:r>
            <a:r>
              <a:rPr lang="en-GB" sz="1800" b="1" spc="95" dirty="0">
                <a:solidFill>
                  <a:srgbClr val="001F5F"/>
                </a:solidFill>
                <a:latin typeface="+mj-lt"/>
                <a:cs typeface="Calibri"/>
              </a:rPr>
              <a:t> </a:t>
            </a:r>
            <a:r>
              <a:rPr lang="en-GB" sz="1800" b="1" dirty="0">
                <a:solidFill>
                  <a:srgbClr val="001F5F"/>
                </a:solidFill>
                <a:latin typeface="+mj-lt"/>
                <a:cs typeface="Calibri"/>
              </a:rPr>
              <a:t>Global</a:t>
            </a:r>
            <a:r>
              <a:rPr lang="en-GB" sz="1800" b="1" spc="65" dirty="0">
                <a:solidFill>
                  <a:srgbClr val="001F5F"/>
                </a:solidFill>
                <a:latin typeface="+mj-lt"/>
                <a:cs typeface="Calibri"/>
              </a:rPr>
              <a:t> </a:t>
            </a:r>
            <a:r>
              <a:rPr lang="en-GB" sz="1800" b="1" dirty="0">
                <a:solidFill>
                  <a:srgbClr val="001F5F"/>
                </a:solidFill>
                <a:latin typeface="+mj-lt"/>
                <a:cs typeface="Calibri"/>
              </a:rPr>
              <a:t>Ltd</a:t>
            </a:r>
            <a:r>
              <a:rPr lang="en-GB" sz="1800" b="1" spc="670" dirty="0">
                <a:solidFill>
                  <a:srgbClr val="001F5F"/>
                </a:solidFill>
                <a:latin typeface="+mj-lt"/>
                <a:cs typeface="Calibri"/>
              </a:rPr>
              <a:t> </a:t>
            </a:r>
            <a:r>
              <a:rPr lang="en-GB" sz="1800" spc="-10" dirty="0">
                <a:latin typeface="+mj-lt"/>
              </a:rPr>
              <a:t>(</a:t>
            </a:r>
            <a:r>
              <a:rPr lang="en-GB" sz="1800" b="1" spc="-10" dirty="0">
                <a:solidFill>
                  <a:srgbClr val="001F5F"/>
                </a:solidFill>
                <a:latin typeface="+mj-lt"/>
                <a:cs typeface="Calibri"/>
              </a:rPr>
              <a:t>EGL</a:t>
            </a:r>
            <a:r>
              <a:rPr lang="en-GB" sz="1800" spc="-10" dirty="0">
                <a:latin typeface="+mj-lt"/>
              </a:rPr>
              <a:t>)</a:t>
            </a:r>
            <a:r>
              <a:rPr lang="en-GB" sz="1800" spc="685" dirty="0">
                <a:latin typeface="+mj-lt"/>
              </a:rPr>
              <a:t> </a:t>
            </a:r>
            <a:r>
              <a:rPr lang="en-GB" sz="1800" spc="-15" dirty="0">
                <a:latin typeface="+mj-lt"/>
              </a:rPr>
              <a:t>is</a:t>
            </a:r>
            <a:r>
              <a:rPr lang="en-GB" sz="1800" spc="63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a</a:t>
            </a:r>
            <a:r>
              <a:rPr lang="en-GB" sz="1800" spc="695" dirty="0">
                <a:latin typeface="+mj-lt"/>
              </a:rPr>
              <a:t> </a:t>
            </a:r>
            <a:r>
              <a:rPr lang="en-GB" sz="1800" spc="-5" dirty="0">
                <a:latin typeface="+mj-lt"/>
              </a:rPr>
              <a:t>leading</a:t>
            </a:r>
            <a:r>
              <a:rPr lang="en-GB" sz="1800" spc="65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entity</a:t>
            </a:r>
            <a:r>
              <a:rPr lang="en-GB" sz="1800" spc="635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hav</a:t>
            </a:r>
            <a:r>
              <a:rPr lang="en-GB" sz="1800" spc="-5" dirty="0">
                <a:latin typeface="+mj-lt"/>
              </a:rPr>
              <a:t>i</a:t>
            </a:r>
            <a:r>
              <a:rPr lang="en-GB" sz="1800" spc="-10" dirty="0">
                <a:latin typeface="+mj-lt"/>
              </a:rPr>
              <a:t>n</a:t>
            </a:r>
            <a:r>
              <a:rPr lang="en-GB" sz="1800" dirty="0">
                <a:latin typeface="+mj-lt"/>
              </a:rPr>
              <a:t>g</a:t>
            </a:r>
            <a:r>
              <a:rPr lang="en-GB" sz="1800" spc="63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a</a:t>
            </a:r>
            <a:r>
              <a:rPr lang="en-GB" sz="1800" spc="625" dirty="0">
                <a:latin typeface="+mj-lt"/>
              </a:rPr>
              <a:t> </a:t>
            </a:r>
            <a:r>
              <a:rPr lang="en-GB" sz="1800" spc="-30" dirty="0">
                <a:latin typeface="+mj-lt"/>
              </a:rPr>
              <a:t>multi-</a:t>
            </a:r>
            <a:r>
              <a:rPr lang="en-GB" sz="1800" spc="-20" dirty="0">
                <a:latin typeface="+mj-lt"/>
              </a:rPr>
              <a:t>faceted</a:t>
            </a:r>
            <a:r>
              <a:rPr lang="en-GB" sz="180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business</a:t>
            </a:r>
            <a:r>
              <a:rPr lang="en-GB" sz="1800" spc="844" dirty="0">
                <a:latin typeface="+mj-lt"/>
              </a:rPr>
              <a:t> </a:t>
            </a:r>
            <a:r>
              <a:rPr lang="en-GB" sz="1800" spc="-15" dirty="0">
                <a:latin typeface="+mj-lt"/>
              </a:rPr>
              <a:t>portfolio.</a:t>
            </a:r>
            <a:r>
              <a:rPr lang="en-GB" sz="1800" spc="190" dirty="0">
                <a:latin typeface="+mj-lt"/>
              </a:rPr>
              <a:t> </a:t>
            </a:r>
            <a:r>
              <a:rPr lang="en-GB" sz="1800" spc="-35" dirty="0">
                <a:latin typeface="+mj-lt"/>
              </a:rPr>
              <a:t>Head-</a:t>
            </a:r>
            <a:r>
              <a:rPr lang="en-GB" sz="1800" spc="-15" dirty="0">
                <a:latin typeface="+mj-lt"/>
              </a:rPr>
              <a:t>quartered</a:t>
            </a:r>
            <a:r>
              <a:rPr lang="en-GB" sz="1800" spc="87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i</a:t>
            </a:r>
            <a:r>
              <a:rPr lang="en-GB" sz="1800" dirty="0">
                <a:latin typeface="+mj-lt"/>
              </a:rPr>
              <a:t>n</a:t>
            </a:r>
            <a:r>
              <a:rPr lang="en-GB" sz="1800" spc="844" dirty="0">
                <a:latin typeface="+mj-lt"/>
              </a:rPr>
              <a:t> </a:t>
            </a:r>
            <a:r>
              <a:rPr lang="en-GB" sz="1800" spc="-15" dirty="0" smtClean="0">
                <a:latin typeface="+mj-lt"/>
              </a:rPr>
              <a:t>the UK </a:t>
            </a:r>
            <a:r>
              <a:rPr lang="en-GB" sz="1800" spc="-5" dirty="0" smtClean="0">
                <a:latin typeface="+mj-lt"/>
              </a:rPr>
              <a:t>a</a:t>
            </a:r>
            <a:r>
              <a:rPr lang="en-GB" sz="1800" spc="-10" dirty="0" smtClean="0">
                <a:latin typeface="+mj-lt"/>
              </a:rPr>
              <a:t>n</a:t>
            </a:r>
            <a:r>
              <a:rPr lang="en-GB" sz="1800" dirty="0" smtClean="0">
                <a:latin typeface="+mj-lt"/>
              </a:rPr>
              <a:t>d</a:t>
            </a:r>
            <a:r>
              <a:rPr lang="en-GB" sz="1800" spc="855" dirty="0" smtClean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having</a:t>
            </a:r>
            <a:r>
              <a:rPr lang="en-GB" sz="1800" spc="844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branch</a:t>
            </a:r>
            <a:r>
              <a:rPr lang="en-GB" sz="1800" dirty="0">
                <a:latin typeface="+mj-lt"/>
              </a:rPr>
              <a:t> </a:t>
            </a:r>
            <a:r>
              <a:rPr lang="en-GB" sz="1800" spc="-5" dirty="0">
                <a:latin typeface="+mj-lt"/>
              </a:rPr>
              <a:t>operation</a:t>
            </a:r>
            <a:r>
              <a:rPr lang="en-GB" sz="1800" dirty="0">
                <a:latin typeface="+mj-lt"/>
              </a:rPr>
              <a:t>s</a:t>
            </a:r>
            <a:r>
              <a:rPr lang="en-GB" sz="1800" spc="1645" dirty="0">
                <a:latin typeface="+mj-lt"/>
              </a:rPr>
              <a:t> </a:t>
            </a:r>
            <a:r>
              <a:rPr lang="en-GB" sz="1800" spc="-30" dirty="0">
                <a:latin typeface="+mj-lt"/>
              </a:rPr>
              <a:t>i</a:t>
            </a:r>
            <a:r>
              <a:rPr lang="en-GB" sz="1800" dirty="0">
                <a:latin typeface="+mj-lt"/>
              </a:rPr>
              <a:t>n</a:t>
            </a:r>
            <a:r>
              <a:rPr lang="en-GB" sz="1800" spc="580" dirty="0">
                <a:latin typeface="+mj-lt"/>
              </a:rPr>
              <a:t> </a:t>
            </a:r>
            <a:r>
              <a:rPr lang="en-GB" sz="1800" spc="-15" dirty="0" smtClean="0">
                <a:latin typeface="+mj-lt"/>
              </a:rPr>
              <a:t>Bangladesh</a:t>
            </a:r>
            <a:r>
              <a:rPr lang="en-GB" sz="1800" spc="600" dirty="0" smtClean="0">
                <a:latin typeface="+mj-lt"/>
              </a:rPr>
              <a:t> </a:t>
            </a:r>
            <a:r>
              <a:rPr lang="en-GB" sz="1800" spc="-5" dirty="0">
                <a:latin typeface="+mj-lt"/>
              </a:rPr>
              <a:t>an</a:t>
            </a:r>
            <a:r>
              <a:rPr lang="en-GB" sz="1800" dirty="0">
                <a:latin typeface="+mj-lt"/>
              </a:rPr>
              <a:t>d</a:t>
            </a:r>
            <a:r>
              <a:rPr lang="en-GB" sz="1800" spc="605" dirty="0">
                <a:latin typeface="+mj-lt"/>
              </a:rPr>
              <a:t> </a:t>
            </a:r>
            <a:r>
              <a:rPr lang="en-GB" sz="1800" spc="605" dirty="0" smtClean="0">
                <a:latin typeface="+mj-lt"/>
              </a:rPr>
              <a:t>Singapore</a:t>
            </a:r>
            <a:r>
              <a:rPr lang="en-GB" sz="1800" spc="-10" dirty="0" smtClean="0">
                <a:latin typeface="+mj-lt"/>
              </a:rPr>
              <a:t>–</a:t>
            </a:r>
            <a:r>
              <a:rPr lang="en-GB" sz="1800" spc="585" dirty="0" smtClean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the</a:t>
            </a:r>
            <a:r>
              <a:rPr lang="en-GB" sz="1800" spc="600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company </a:t>
            </a:r>
            <a:r>
              <a:rPr lang="en-GB" sz="1800" spc="-5" dirty="0">
                <a:latin typeface="+mj-lt"/>
              </a:rPr>
              <a:t>envisions</a:t>
            </a:r>
            <a:r>
              <a:rPr lang="en-GB" sz="1800" spc="440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to</a:t>
            </a:r>
            <a:r>
              <a:rPr lang="en-GB" sz="1800" spc="43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have</a:t>
            </a:r>
            <a:r>
              <a:rPr lang="en-GB" sz="1800" spc="434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a</a:t>
            </a:r>
            <a:r>
              <a:rPr lang="en-GB" sz="1800" spc="395" dirty="0">
                <a:latin typeface="+mj-lt"/>
              </a:rPr>
              <a:t> </a:t>
            </a:r>
            <a:r>
              <a:rPr lang="en-GB" sz="1800" spc="-35" dirty="0">
                <a:latin typeface="+mj-lt"/>
              </a:rPr>
              <a:t>foot-</a:t>
            </a:r>
            <a:r>
              <a:rPr lang="en-GB" sz="1800" spc="-10" dirty="0">
                <a:latin typeface="+mj-lt"/>
              </a:rPr>
              <a:t>print</a:t>
            </a:r>
            <a:r>
              <a:rPr lang="en-GB" sz="1800" spc="134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i</a:t>
            </a:r>
            <a:r>
              <a:rPr lang="en-GB" sz="1800" dirty="0">
                <a:latin typeface="+mj-lt"/>
              </a:rPr>
              <a:t>n</a:t>
            </a:r>
            <a:r>
              <a:rPr lang="en-GB" sz="1800" spc="133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a</a:t>
            </a:r>
            <a:r>
              <a:rPr lang="en-GB" sz="1800" spc="132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diverse</a:t>
            </a:r>
            <a:r>
              <a:rPr lang="en-GB" sz="1800" spc="1340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range</a:t>
            </a:r>
            <a:r>
              <a:rPr lang="en-GB" sz="1800" spc="1315" dirty="0">
                <a:latin typeface="+mj-lt"/>
              </a:rPr>
              <a:t> </a:t>
            </a:r>
            <a:r>
              <a:rPr lang="en-GB" sz="1800" spc="-5" dirty="0">
                <a:latin typeface="+mj-lt"/>
              </a:rPr>
              <a:t>o</a:t>
            </a:r>
            <a:r>
              <a:rPr lang="en-GB" sz="1800" dirty="0">
                <a:latin typeface="+mj-lt"/>
              </a:rPr>
              <a:t>f</a:t>
            </a:r>
            <a:r>
              <a:rPr lang="en-GB" sz="1800" spc="133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business areas.</a:t>
            </a:r>
            <a:r>
              <a:rPr lang="en-GB" sz="1800" spc="1530" dirty="0">
                <a:latin typeface="+mj-lt"/>
              </a:rPr>
              <a:t> </a:t>
            </a:r>
            <a:r>
              <a:rPr lang="en-GB" sz="1800" spc="-20" dirty="0">
                <a:latin typeface="+mj-lt"/>
              </a:rPr>
              <a:t>Combining</a:t>
            </a:r>
            <a:r>
              <a:rPr lang="en-GB" sz="1800" spc="525" dirty="0">
                <a:latin typeface="+mj-lt"/>
              </a:rPr>
              <a:t> </a:t>
            </a:r>
            <a:r>
              <a:rPr lang="en-GB" sz="1800" spc="-15" dirty="0">
                <a:latin typeface="+mj-lt"/>
              </a:rPr>
              <a:t>unparalleled</a:t>
            </a:r>
            <a:r>
              <a:rPr lang="en-GB" sz="1800" spc="54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experience,</a:t>
            </a:r>
            <a:r>
              <a:rPr lang="en-GB" sz="1800" spc="53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domain</a:t>
            </a:r>
            <a:r>
              <a:rPr lang="en-GB" sz="1800" spc="54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expertise,</a:t>
            </a:r>
            <a:r>
              <a:rPr lang="en-GB" sz="1800" spc="540" dirty="0">
                <a:latin typeface="+mj-lt"/>
              </a:rPr>
              <a:t> </a:t>
            </a:r>
            <a:r>
              <a:rPr lang="en-GB" sz="1800" spc="-15" dirty="0">
                <a:latin typeface="+mj-lt"/>
              </a:rPr>
              <a:t>best</a:t>
            </a:r>
            <a:r>
              <a:rPr lang="en-GB" sz="1800" spc="-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practice</a:t>
            </a:r>
            <a:r>
              <a:rPr lang="en-GB" sz="1800" spc="420" dirty="0">
                <a:latin typeface="+mj-lt"/>
              </a:rPr>
              <a:t> </a:t>
            </a:r>
            <a:r>
              <a:rPr lang="en-GB" sz="1800" spc="-20" dirty="0">
                <a:latin typeface="+mj-lt"/>
              </a:rPr>
              <a:t>referrals</a:t>
            </a:r>
            <a:r>
              <a:rPr lang="en-GB" sz="1800" spc="400" dirty="0">
                <a:latin typeface="+mj-lt"/>
              </a:rPr>
              <a:t> </a:t>
            </a:r>
            <a:r>
              <a:rPr lang="en-GB" sz="1800" spc="-5" dirty="0">
                <a:latin typeface="+mj-lt"/>
              </a:rPr>
              <a:t>an</a:t>
            </a:r>
            <a:r>
              <a:rPr lang="en-GB" sz="1800" dirty="0">
                <a:latin typeface="+mj-lt"/>
              </a:rPr>
              <a:t>d</a:t>
            </a:r>
            <a:r>
              <a:rPr lang="en-GB" sz="1800" spc="1285" dirty="0">
                <a:latin typeface="+mj-lt"/>
              </a:rPr>
              <a:t> </a:t>
            </a:r>
            <a:r>
              <a:rPr lang="en-GB" sz="1800" spc="-5" dirty="0">
                <a:latin typeface="+mj-lt"/>
              </a:rPr>
              <a:t>comprehensive</a:t>
            </a:r>
            <a:r>
              <a:rPr lang="en-GB" sz="1800" spc="128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capabilities</a:t>
            </a:r>
            <a:r>
              <a:rPr lang="en-GB" sz="1800" spc="1300" dirty="0">
                <a:latin typeface="+mj-lt"/>
              </a:rPr>
              <a:t> </a:t>
            </a:r>
            <a:r>
              <a:rPr lang="en-GB" sz="1800" spc="-15" dirty="0">
                <a:latin typeface="+mj-lt"/>
              </a:rPr>
              <a:t>across</a:t>
            </a:r>
            <a:r>
              <a:rPr lang="en-GB" sz="1800" spc="1290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va</a:t>
            </a:r>
            <a:r>
              <a:rPr lang="en-GB" sz="1800" spc="-10" dirty="0">
                <a:latin typeface="+mj-lt"/>
              </a:rPr>
              <a:t>r</a:t>
            </a:r>
            <a:r>
              <a:rPr lang="en-GB" sz="1800" spc="-5" dirty="0">
                <a:latin typeface="+mj-lt"/>
              </a:rPr>
              <a:t>ious </a:t>
            </a:r>
            <a:r>
              <a:rPr lang="en-GB" sz="1800" spc="-10" dirty="0">
                <a:latin typeface="+mj-lt"/>
              </a:rPr>
              <a:t>industries</a:t>
            </a:r>
            <a:r>
              <a:rPr lang="en-GB" sz="1800" spc="170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a</a:t>
            </a:r>
            <a:r>
              <a:rPr lang="en-GB" sz="1800" spc="-180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n</a:t>
            </a:r>
            <a:r>
              <a:rPr lang="en-GB" sz="1800" spc="-175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d</a:t>
            </a:r>
            <a:r>
              <a:rPr lang="en-GB" sz="1800" spc="905" dirty="0">
                <a:latin typeface="+mj-lt"/>
              </a:rPr>
              <a:t> </a:t>
            </a:r>
            <a:r>
              <a:rPr lang="en-GB" sz="1800" spc="-15" dirty="0">
                <a:latin typeface="+mj-lt"/>
              </a:rPr>
              <a:t>business</a:t>
            </a:r>
            <a:r>
              <a:rPr lang="en-GB" sz="1800" spc="1700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functions,</a:t>
            </a:r>
            <a:r>
              <a:rPr lang="en-GB" sz="1800" spc="167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the</a:t>
            </a:r>
            <a:r>
              <a:rPr lang="en-GB" sz="1800" spc="615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company</a:t>
            </a:r>
            <a:r>
              <a:rPr lang="en-GB" sz="1800" spc="165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collaborates</a:t>
            </a:r>
            <a:r>
              <a:rPr lang="en-GB" sz="1800" spc="-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with</a:t>
            </a:r>
            <a:r>
              <a:rPr lang="en-GB" sz="1800" spc="1080" dirty="0">
                <a:latin typeface="+mj-lt"/>
              </a:rPr>
              <a:t> </a:t>
            </a:r>
            <a:r>
              <a:rPr lang="en-GB" sz="1800" spc="-5" dirty="0">
                <a:latin typeface="+mj-lt"/>
              </a:rPr>
              <a:t>customers</a:t>
            </a:r>
            <a:r>
              <a:rPr lang="en-GB" sz="1800" spc="1095" dirty="0">
                <a:latin typeface="+mj-lt"/>
              </a:rPr>
              <a:t> </a:t>
            </a:r>
            <a:r>
              <a:rPr lang="en-GB" sz="1800" spc="-15" dirty="0">
                <a:latin typeface="+mj-lt"/>
              </a:rPr>
              <a:t>t</a:t>
            </a:r>
            <a:r>
              <a:rPr lang="en-GB" sz="1800" dirty="0">
                <a:latin typeface="+mj-lt"/>
              </a:rPr>
              <a:t>o</a:t>
            </a:r>
            <a:r>
              <a:rPr lang="en-GB" sz="1800" spc="1075" dirty="0">
                <a:latin typeface="+mj-lt"/>
              </a:rPr>
              <a:t> </a:t>
            </a:r>
            <a:r>
              <a:rPr lang="en-GB" sz="1800" spc="-25" dirty="0">
                <a:latin typeface="+mj-lt"/>
              </a:rPr>
              <a:t>help</a:t>
            </a:r>
            <a:r>
              <a:rPr lang="en-GB" sz="1800" spc="290" dirty="0">
                <a:latin typeface="+mj-lt"/>
              </a:rPr>
              <a:t> </a:t>
            </a:r>
            <a:r>
              <a:rPr lang="en-GB" sz="1800" spc="-35" dirty="0">
                <a:latin typeface="+mj-lt"/>
              </a:rPr>
              <a:t>effectively,</a:t>
            </a:r>
            <a:r>
              <a:rPr lang="en-GB" sz="1800" spc="310" dirty="0">
                <a:latin typeface="+mj-lt"/>
              </a:rPr>
              <a:t> </a:t>
            </a:r>
            <a:r>
              <a:rPr lang="en-GB" sz="1800" spc="-15" dirty="0">
                <a:latin typeface="+mj-lt"/>
              </a:rPr>
              <a:t>address</a:t>
            </a:r>
            <a:r>
              <a:rPr lang="en-GB" sz="1800" spc="325" dirty="0">
                <a:latin typeface="+mj-lt"/>
              </a:rPr>
              <a:t> </a:t>
            </a:r>
            <a:r>
              <a:rPr lang="en-GB" sz="1800" spc="-20" dirty="0">
                <a:latin typeface="+mj-lt"/>
              </a:rPr>
              <a:t>operational</a:t>
            </a:r>
            <a:r>
              <a:rPr lang="en-GB" sz="1800" spc="295" dirty="0">
                <a:latin typeface="+mj-lt"/>
              </a:rPr>
              <a:t> </a:t>
            </a:r>
            <a:r>
              <a:rPr lang="en-GB" sz="1800" spc="-10" dirty="0">
                <a:latin typeface="+mj-lt"/>
              </a:rPr>
              <a:t>challenges </a:t>
            </a:r>
            <a:r>
              <a:rPr lang="en-GB" sz="1800" spc="-5" dirty="0">
                <a:latin typeface="+mj-lt"/>
              </a:rPr>
              <a:t>an</a:t>
            </a:r>
            <a:r>
              <a:rPr lang="en-GB" sz="1800" dirty="0">
                <a:latin typeface="+mj-lt"/>
              </a:rPr>
              <a:t>d</a:t>
            </a:r>
            <a:r>
              <a:rPr lang="en-GB" sz="1800" spc="-85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grow</a:t>
            </a:r>
            <a:r>
              <a:rPr lang="en-GB" sz="1800" spc="-100" dirty="0">
                <a:latin typeface="+mj-lt"/>
              </a:rPr>
              <a:t> </a:t>
            </a:r>
            <a:r>
              <a:rPr lang="en-GB" sz="1800" spc="-20" dirty="0">
                <a:latin typeface="+mj-lt"/>
              </a:rPr>
              <a:t>stronger.</a:t>
            </a:r>
          </a:p>
          <a:p>
            <a:pPr marL="12700" algn="just">
              <a:lnSpc>
                <a:spcPct val="100000"/>
              </a:lnSpc>
              <a:spcBef>
                <a:spcPts val="2400"/>
              </a:spcBef>
            </a:pPr>
            <a:r>
              <a:rPr lang="en-GB" sz="1800" b="1" dirty="0">
                <a:solidFill>
                  <a:srgbClr val="001F5F"/>
                </a:solidFill>
                <a:latin typeface="+mj-lt"/>
                <a:cs typeface="Calibri"/>
              </a:rPr>
              <a:t>EGL</a:t>
            </a:r>
            <a:r>
              <a:rPr lang="en-GB" sz="1800" b="1" spc="-40" dirty="0">
                <a:solidFill>
                  <a:srgbClr val="001F5F"/>
                </a:solidFill>
                <a:latin typeface="+mj-lt"/>
                <a:cs typeface="Calibri"/>
              </a:rPr>
              <a:t> </a:t>
            </a:r>
            <a:r>
              <a:rPr lang="en-GB" sz="1800" dirty="0">
                <a:latin typeface="+mj-lt"/>
              </a:rPr>
              <a:t>is</a:t>
            </a:r>
            <a:r>
              <a:rPr lang="en-GB" sz="1800" spc="-55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a</a:t>
            </a:r>
            <a:r>
              <a:rPr lang="en-GB" sz="1800" spc="-50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concern</a:t>
            </a:r>
            <a:r>
              <a:rPr lang="en-GB" sz="1800" spc="-60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of</a:t>
            </a:r>
            <a:r>
              <a:rPr lang="en-GB" sz="1800" spc="-65" dirty="0">
                <a:latin typeface="+mj-lt"/>
              </a:rPr>
              <a:t> </a:t>
            </a:r>
            <a:r>
              <a:rPr lang="en-GB" sz="1800" spc="-55" dirty="0">
                <a:latin typeface="+mj-lt"/>
              </a:rPr>
              <a:t>“</a:t>
            </a:r>
            <a:r>
              <a:rPr lang="en-GB" sz="1800" b="1" spc="-55" dirty="0" err="1">
                <a:solidFill>
                  <a:srgbClr val="001F5F"/>
                </a:solidFill>
                <a:latin typeface="+mj-lt"/>
                <a:cs typeface="Calibri"/>
              </a:rPr>
              <a:t>Esaren</a:t>
            </a:r>
            <a:r>
              <a:rPr lang="en-GB" sz="1800" b="1" spc="-105" dirty="0">
                <a:solidFill>
                  <a:srgbClr val="001F5F"/>
                </a:solidFill>
                <a:latin typeface="+mj-lt"/>
                <a:cs typeface="Calibri"/>
              </a:rPr>
              <a:t> </a:t>
            </a:r>
            <a:r>
              <a:rPr lang="en-GB" sz="1800" b="1" spc="-55" dirty="0">
                <a:solidFill>
                  <a:srgbClr val="001F5F"/>
                </a:solidFill>
                <a:latin typeface="+mj-lt"/>
                <a:cs typeface="Calibri"/>
              </a:rPr>
              <a:t>International</a:t>
            </a:r>
            <a:r>
              <a:rPr lang="en-GB" sz="1800" b="1" spc="-140" dirty="0">
                <a:solidFill>
                  <a:srgbClr val="001F5F"/>
                </a:solidFill>
                <a:latin typeface="+mj-lt"/>
                <a:cs typeface="Calibri"/>
              </a:rPr>
              <a:t> </a:t>
            </a:r>
            <a:r>
              <a:rPr lang="en-GB" sz="1800" b="1" dirty="0" smtClean="0">
                <a:solidFill>
                  <a:srgbClr val="001F5F"/>
                </a:solidFill>
                <a:latin typeface="+mj-lt"/>
                <a:cs typeface="Calibri"/>
              </a:rPr>
              <a:t>Group, UK</a:t>
            </a:r>
            <a:r>
              <a:rPr lang="en-GB" sz="1800" b="1" spc="-45" dirty="0" smtClean="0">
                <a:solidFill>
                  <a:srgbClr val="001F5F"/>
                </a:solidFill>
                <a:latin typeface="+mj-lt"/>
                <a:cs typeface="Calibri"/>
              </a:rPr>
              <a:t> </a:t>
            </a:r>
            <a:r>
              <a:rPr lang="en-GB" sz="1800" dirty="0">
                <a:latin typeface="+mj-lt"/>
              </a:rPr>
              <a:t>”</a:t>
            </a:r>
            <a:r>
              <a:rPr lang="en-GB" sz="1800" spc="-15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and</a:t>
            </a:r>
            <a:r>
              <a:rPr lang="en-GB" sz="1800" spc="415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focuses</a:t>
            </a:r>
            <a:r>
              <a:rPr lang="en-GB" sz="1800" spc="-15" dirty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mainly</a:t>
            </a:r>
            <a:r>
              <a:rPr lang="en-GB" sz="1800" spc="-40" dirty="0">
                <a:latin typeface="+mj-lt"/>
              </a:rPr>
              <a:t> </a:t>
            </a:r>
            <a:r>
              <a:rPr lang="en-GB" sz="1800" spc="-25" dirty="0" smtClean="0">
                <a:latin typeface="+mj-lt"/>
              </a:rPr>
              <a:t>in </a:t>
            </a:r>
            <a:r>
              <a:rPr lang="en-GB" sz="1800" dirty="0" smtClean="0">
                <a:latin typeface="+mj-lt"/>
              </a:rPr>
              <a:t>the</a:t>
            </a:r>
            <a:r>
              <a:rPr lang="en-GB" sz="1800" spc="-105" dirty="0" smtClean="0">
                <a:latin typeface="+mj-lt"/>
              </a:rPr>
              <a:t> </a:t>
            </a:r>
            <a:r>
              <a:rPr lang="en-GB" sz="1800" dirty="0">
                <a:latin typeface="+mj-lt"/>
              </a:rPr>
              <a:t>areas</a:t>
            </a:r>
            <a:r>
              <a:rPr lang="en-GB" sz="1800" spc="-45" dirty="0">
                <a:latin typeface="+mj-lt"/>
              </a:rPr>
              <a:t> </a:t>
            </a:r>
            <a:r>
              <a:rPr lang="en-GB" sz="1800" spc="-25" dirty="0">
                <a:latin typeface="+mj-lt"/>
              </a:rPr>
              <a:t>of:</a:t>
            </a:r>
          </a:p>
          <a:p>
            <a:pPr marL="356870" indent="-344170" algn="just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GB" sz="1800" b="1" dirty="0">
                <a:latin typeface="+mj-lt"/>
              </a:rPr>
              <a:t>Project</a:t>
            </a:r>
            <a:r>
              <a:rPr lang="en-GB" sz="1800" b="1" spc="-85" dirty="0">
                <a:latin typeface="+mj-lt"/>
              </a:rPr>
              <a:t> </a:t>
            </a:r>
            <a:r>
              <a:rPr lang="en-GB" sz="1800" b="1" spc="-10" dirty="0">
                <a:latin typeface="+mj-lt"/>
              </a:rPr>
              <a:t>Management</a:t>
            </a:r>
            <a:r>
              <a:rPr lang="en-GB" sz="1800" b="1" spc="-75" dirty="0">
                <a:latin typeface="+mj-lt"/>
              </a:rPr>
              <a:t> </a:t>
            </a:r>
            <a:r>
              <a:rPr lang="en-GB" sz="1800" b="1" spc="-10" dirty="0">
                <a:latin typeface="+mj-lt"/>
              </a:rPr>
              <a:t>Consulting</a:t>
            </a:r>
            <a:r>
              <a:rPr lang="en-GB" sz="1800" b="1" spc="-65" dirty="0">
                <a:latin typeface="+mj-lt"/>
              </a:rPr>
              <a:t> </a:t>
            </a:r>
            <a:r>
              <a:rPr lang="en-GB" sz="1800" b="1" dirty="0">
                <a:latin typeface="+mj-lt"/>
              </a:rPr>
              <a:t>(PMC)</a:t>
            </a:r>
            <a:r>
              <a:rPr lang="en-GB" sz="1800" b="1" spc="-65" dirty="0">
                <a:latin typeface="+mj-lt"/>
              </a:rPr>
              <a:t> </a:t>
            </a:r>
            <a:endParaRPr lang="en-GB" sz="1800" b="1" spc="-10" dirty="0">
              <a:latin typeface="+mj-lt"/>
            </a:endParaRPr>
          </a:p>
          <a:p>
            <a:pPr marL="356870" indent="-344170" algn="just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GB" sz="1800" b="1" spc="-10" dirty="0" smtClean="0">
                <a:latin typeface="+mj-lt"/>
              </a:rPr>
              <a:t>Venture</a:t>
            </a:r>
            <a:r>
              <a:rPr lang="en-GB" sz="1800" b="1" spc="-65" dirty="0" smtClean="0">
                <a:latin typeface="+mj-lt"/>
              </a:rPr>
              <a:t> </a:t>
            </a:r>
            <a:r>
              <a:rPr lang="en-GB" sz="1800" b="1" spc="-10" dirty="0" smtClean="0">
                <a:latin typeface="+mj-lt"/>
              </a:rPr>
              <a:t>management</a:t>
            </a:r>
            <a:r>
              <a:rPr lang="en-GB" sz="1800" b="1" spc="-65" dirty="0" smtClean="0">
                <a:latin typeface="+mj-lt"/>
              </a:rPr>
              <a:t> </a:t>
            </a:r>
            <a:r>
              <a:rPr lang="en-GB" sz="1800" b="1" dirty="0" smtClean="0">
                <a:latin typeface="+mj-lt"/>
              </a:rPr>
              <a:t>&amp;</a:t>
            </a:r>
            <a:r>
              <a:rPr lang="en-GB" sz="1800" b="1" spc="-70" dirty="0" smtClean="0">
                <a:latin typeface="+mj-lt"/>
              </a:rPr>
              <a:t> </a:t>
            </a:r>
            <a:r>
              <a:rPr lang="en-GB" sz="1800" b="1" dirty="0" smtClean="0">
                <a:latin typeface="+mj-lt"/>
              </a:rPr>
              <a:t>Joint</a:t>
            </a:r>
            <a:r>
              <a:rPr lang="en-GB" sz="1800" b="1" spc="-70" dirty="0" smtClean="0">
                <a:latin typeface="+mj-lt"/>
              </a:rPr>
              <a:t> </a:t>
            </a:r>
            <a:r>
              <a:rPr lang="en-GB" sz="1800" b="1" spc="-10" dirty="0" smtClean="0">
                <a:latin typeface="+mj-lt"/>
              </a:rPr>
              <a:t>Ventures</a:t>
            </a:r>
          </a:p>
          <a:p>
            <a:pPr marL="12700" indent="0" algn="just">
              <a:lnSpc>
                <a:spcPct val="100000"/>
              </a:lnSpc>
              <a:buNone/>
              <a:tabLst>
                <a:tab pos="356870" algn="l"/>
              </a:tabLst>
            </a:pPr>
            <a:endParaRPr lang="en-GB" sz="1800" b="1" spc="-10" dirty="0" smtClean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18DD966-19F0-4350-AC58-AE86C210BD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4670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43" y="4419523"/>
            <a:ext cx="3718384" cy="1175444"/>
          </a:xfrm>
        </p:spPr>
        <p:txBody>
          <a:bodyPr>
            <a:normAutofit fontScale="90000"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4400" dirty="0" smtClean="0"/>
              <a:t>Mission </a:t>
            </a:r>
            <a:r>
              <a:rPr lang="en-GB" sz="1800" dirty="0" smtClean="0"/>
              <a:t/>
            </a:r>
            <a:br>
              <a:rPr lang="en-GB" sz="1800" dirty="0" smtClean="0"/>
            </a:br>
            <a:r>
              <a:rPr lang="en-GB" sz="1800" dirty="0" smtClean="0"/>
              <a:t/>
            </a:r>
            <a:br>
              <a:rPr lang="en-GB" sz="1800" dirty="0" smtClean="0"/>
            </a:br>
            <a:r>
              <a:rPr lang="en-GB" sz="2000" dirty="0" smtClean="0">
                <a:solidFill>
                  <a:schemeClr val="tx1"/>
                </a:solidFill>
                <a:cs typeface="Calibri"/>
              </a:rPr>
              <a:t>We</a:t>
            </a:r>
            <a:r>
              <a:rPr lang="en-GB" sz="2000" spc="45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GB" sz="2000" dirty="0">
                <a:solidFill>
                  <a:schemeClr val="tx1"/>
                </a:solidFill>
                <a:cs typeface="Calibri"/>
              </a:rPr>
              <a:t>aim</a:t>
            </a:r>
            <a:r>
              <a:rPr lang="en-GB" sz="2000" spc="70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2000" dirty="0">
                <a:solidFill>
                  <a:schemeClr val="tx1"/>
                </a:solidFill>
                <a:cs typeface="Calibri"/>
              </a:rPr>
              <a:t>to</a:t>
            </a:r>
            <a:r>
              <a:rPr lang="en-GB" sz="2000" spc="70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2000" dirty="0">
                <a:solidFill>
                  <a:schemeClr val="tx1"/>
                </a:solidFill>
                <a:cs typeface="Calibri"/>
              </a:rPr>
              <a:t>serve</a:t>
            </a:r>
            <a:r>
              <a:rPr lang="en-GB" sz="2000" spc="80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2000" dirty="0">
                <a:solidFill>
                  <a:schemeClr val="tx1"/>
                </a:solidFill>
                <a:cs typeface="Calibri"/>
              </a:rPr>
              <a:t>our</a:t>
            </a:r>
            <a:r>
              <a:rPr lang="en-GB" sz="2000" spc="50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2000" dirty="0">
                <a:solidFill>
                  <a:schemeClr val="tx1"/>
                </a:solidFill>
                <a:cs typeface="Calibri"/>
              </a:rPr>
              <a:t>clients</a:t>
            </a:r>
            <a:r>
              <a:rPr lang="en-GB" sz="2000" spc="85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2000" spc="-10" dirty="0">
                <a:solidFill>
                  <a:schemeClr val="tx1"/>
                </a:solidFill>
                <a:cs typeface="Calibri"/>
              </a:rPr>
              <a:t>strength</a:t>
            </a:r>
            <a:r>
              <a:rPr lang="en-GB" sz="2000" dirty="0">
                <a:solidFill>
                  <a:schemeClr val="tx1"/>
                </a:solidFill>
                <a:cs typeface="Calibri"/>
              </a:rPr>
              <a:t/>
            </a:r>
            <a:br>
              <a:rPr lang="en-GB" sz="2000" dirty="0">
                <a:solidFill>
                  <a:schemeClr val="tx1"/>
                </a:solidFill>
                <a:cs typeface="Calibri"/>
              </a:rPr>
            </a:br>
            <a:r>
              <a:rPr lang="en-GB" sz="2000" dirty="0">
                <a:solidFill>
                  <a:schemeClr val="tx1"/>
                </a:solidFill>
                <a:cs typeface="Calibri"/>
              </a:rPr>
              <a:t>to</a:t>
            </a:r>
            <a:r>
              <a:rPr lang="en-GB" sz="2000" spc="-95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2000" spc="-10" dirty="0">
                <a:solidFill>
                  <a:schemeClr val="tx1"/>
                </a:solidFill>
                <a:cs typeface="Calibri"/>
              </a:rPr>
              <a:t>strength.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/>
            </a:r>
            <a:br>
              <a:rPr lang="en-GB" sz="1800" dirty="0">
                <a:solidFill>
                  <a:schemeClr val="tx1"/>
                </a:solidFill>
                <a:cs typeface="Calibri"/>
              </a:rPr>
            </a:b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DE860BC-070C-49AE-AF30-7F05D59402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 txBox="1">
            <a:spLocks/>
          </p:cNvSpPr>
          <p:nvPr/>
        </p:nvSpPr>
        <p:spPr>
          <a:xfrm>
            <a:off x="7230359" y="3837995"/>
            <a:ext cx="3902697" cy="2743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GB" sz="4400" dirty="0" smtClean="0"/>
              <a:t>Vision</a:t>
            </a:r>
            <a:r>
              <a:rPr lang="en-GB" sz="5900" dirty="0" smtClean="0"/>
              <a:t> </a:t>
            </a:r>
            <a:r>
              <a:rPr lang="en-GB" sz="1800" dirty="0" smtClean="0"/>
              <a:t/>
            </a:r>
            <a:br>
              <a:rPr lang="en-GB" sz="1800" dirty="0" smtClean="0"/>
            </a:br>
            <a:endParaRPr lang="en-GB" sz="1800" dirty="0" smtClean="0"/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GB" sz="1800" dirty="0" smtClean="0">
                <a:solidFill>
                  <a:schemeClr val="tx1"/>
                </a:solidFill>
                <a:cs typeface="Calibri"/>
              </a:rPr>
              <a:t>Our</a:t>
            </a:r>
            <a:r>
              <a:rPr lang="en-GB" sz="1800" spc="-10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vision</a:t>
            </a:r>
            <a:r>
              <a:rPr lang="en-GB" sz="1800" spc="-5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is</a:t>
            </a:r>
            <a:r>
              <a:rPr lang="en-GB" sz="1800" spc="-5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to become</a:t>
            </a:r>
            <a:r>
              <a:rPr lang="en-GB" sz="1800" spc="10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the best</a:t>
            </a:r>
            <a:r>
              <a:rPr lang="en-GB" sz="18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spc="-10" dirty="0">
                <a:solidFill>
                  <a:schemeClr val="tx1"/>
                </a:solidFill>
                <a:cs typeface="Calibri"/>
              </a:rPr>
              <a:t>version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of</a:t>
            </a:r>
            <a:r>
              <a:rPr lang="en-GB" sz="1800" spc="345" dirty="0">
                <a:solidFill>
                  <a:schemeClr val="tx1"/>
                </a:solidFill>
                <a:cs typeface="Calibri"/>
              </a:rPr>
              <a:t> 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ourselves,</a:t>
            </a:r>
            <a:r>
              <a:rPr lang="en-GB" sz="1800" spc="335" dirty="0">
                <a:solidFill>
                  <a:schemeClr val="tx1"/>
                </a:solidFill>
                <a:cs typeface="Calibri"/>
              </a:rPr>
              <a:t> 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build</a:t>
            </a:r>
            <a:r>
              <a:rPr lang="en-GB" sz="1800" spc="340" dirty="0">
                <a:solidFill>
                  <a:schemeClr val="tx1"/>
                </a:solidFill>
                <a:cs typeface="Calibri"/>
              </a:rPr>
              <a:t> 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a</a:t>
            </a:r>
            <a:r>
              <a:rPr lang="en-GB" sz="1800" spc="345" dirty="0">
                <a:solidFill>
                  <a:schemeClr val="tx1"/>
                </a:solidFill>
                <a:cs typeface="Calibri"/>
              </a:rPr>
              <a:t> 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fraternity</a:t>
            </a:r>
            <a:r>
              <a:rPr lang="en-GB" sz="1800" spc="330" dirty="0">
                <a:solidFill>
                  <a:schemeClr val="tx1"/>
                </a:solidFill>
                <a:cs typeface="Calibri"/>
              </a:rPr>
              <a:t>  </a:t>
            </a:r>
            <a:r>
              <a:rPr lang="en-GB" sz="1800" spc="-25" dirty="0">
                <a:solidFill>
                  <a:schemeClr val="tx1"/>
                </a:solidFill>
                <a:cs typeface="Calibri"/>
              </a:rPr>
              <a:t>of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partners</a:t>
            </a:r>
            <a:r>
              <a:rPr lang="en-GB" sz="1800" spc="445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and</a:t>
            </a:r>
            <a:r>
              <a:rPr lang="en-GB" sz="1800" spc="455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customers</a:t>
            </a:r>
            <a:r>
              <a:rPr lang="en-GB" sz="1800" spc="440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with</a:t>
            </a:r>
            <a:r>
              <a:rPr lang="en-GB" sz="1800" spc="455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spc="-10" dirty="0">
                <a:solidFill>
                  <a:schemeClr val="tx1"/>
                </a:solidFill>
                <a:cs typeface="Calibri"/>
              </a:rPr>
              <a:t>purpose </a:t>
            </a:r>
            <a:r>
              <a:rPr lang="en-GB" sz="1800" dirty="0">
                <a:solidFill>
                  <a:schemeClr val="tx1"/>
                </a:solidFill>
                <a:cs typeface="Calibri"/>
              </a:rPr>
              <a:t>and</a:t>
            </a:r>
            <a:r>
              <a:rPr lang="en-GB" sz="1800" spc="-60" dirty="0">
                <a:solidFill>
                  <a:schemeClr val="tx1"/>
                </a:solidFill>
                <a:cs typeface="Calibri"/>
              </a:rPr>
              <a:t> </a:t>
            </a:r>
            <a:r>
              <a:rPr lang="en-GB" sz="1800" spc="-10" dirty="0">
                <a:solidFill>
                  <a:schemeClr val="tx1"/>
                </a:solidFill>
                <a:cs typeface="Calibri"/>
              </a:rPr>
              <a:t>efficacy</a:t>
            </a:r>
            <a:r>
              <a:rPr lang="en-GB" sz="1800" spc="-10" dirty="0" smtClean="0">
                <a:solidFill>
                  <a:schemeClr val="tx1"/>
                </a:solidFill>
                <a:cs typeface="Calibri"/>
              </a:rPr>
              <a:t>.</a:t>
            </a:r>
            <a:r>
              <a:rPr lang="en-GB" sz="1800" dirty="0" smtClean="0">
                <a:solidFill>
                  <a:schemeClr val="tx1"/>
                </a:solidFill>
                <a:cs typeface="Calibri"/>
              </a:rPr>
              <a:t/>
            </a:r>
            <a:br>
              <a:rPr lang="en-GB" sz="1800" dirty="0" smtClean="0">
                <a:solidFill>
                  <a:schemeClr val="tx1"/>
                </a:solidFill>
                <a:cs typeface="Calibri"/>
              </a:rPr>
            </a:b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3864990" y="6297105"/>
            <a:ext cx="13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112866" y="4523217"/>
            <a:ext cx="18854" cy="1626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66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Who we are</a:t>
            </a:r>
            <a:endParaRPr lang="en-US" sz="4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1724024"/>
            <a:ext cx="3484088" cy="5064057"/>
          </a:xfrm>
        </p:spPr>
        <p:txBody>
          <a:bodyPr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EGL, our primary focus was development of projects, whereby we partner with Engineering, procurement and construction (EPC) companies to offer infrastructure and supplying support to project </a:t>
            </a:r>
            <a:r>
              <a:rPr lang="en-GB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owners. </a:t>
            </a:r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feasibility to project execution – we can provide a diverse range of services to satisfy our client’s requirements properly. </a:t>
            </a:r>
            <a:endParaRPr lang="en-GB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95589" y="1712119"/>
            <a:ext cx="3365368" cy="4191000"/>
          </a:xfrm>
        </p:spPr>
        <p:txBody>
          <a:bodyPr>
            <a:noAutofit/>
          </a:bodyPr>
          <a:lstStyle/>
          <a:p>
            <a:r>
              <a:rPr lang="en-GB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second step we branched into start-up and venture development activities with a Singapore based Fund Management presence as well. </a:t>
            </a:r>
          </a:p>
          <a:p>
            <a:r>
              <a:rPr lang="en-GB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offer financing facilities to our clientele as well, which is in collaboration with our venture partners. 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pic>
        <p:nvPicPr>
          <p:cNvPr id="11" name="Picture Placeholder 12">
            <a:extLst>
              <a:ext uri="{FF2B5EF4-FFF2-40B4-BE49-F238E27FC236}">
                <a16:creationId xmlns:a16="http://schemas.microsoft.com/office/drawing/2014/main" id="{D38CA64A-11C5-4BD7-8A2D-E6D58794D6D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757" t="-231" r="16551" b="231"/>
          <a:stretch/>
        </p:blipFill>
        <p:spPr>
          <a:xfrm>
            <a:off x="4002880" y="1233488"/>
            <a:ext cx="4257675" cy="5148262"/>
          </a:xfrm>
        </p:spPr>
      </p:pic>
    </p:spTree>
    <p:extLst>
      <p:ext uri="{BB962C8B-B14F-4D97-AF65-F5344CB8AC3E}">
        <p14:creationId xmlns:p14="http://schemas.microsoft.com/office/powerpoint/2010/main" val="308766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F8E5BC1-257F-4CA0-A14D-8A76F619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Global footprint and responsibility matrix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4475F-A218-40AD-91D5-2A420736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B0CB1D-E6FE-4346-B4DC-C1AC8F0F5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 smtClean="0"/>
              <a:t>Ms. Diana </a:t>
            </a:r>
            <a:r>
              <a:rPr lang="en-GB" sz="1800" dirty="0" err="1" smtClean="0"/>
              <a:t>Sachirciuc</a:t>
            </a:r>
            <a:r>
              <a:rPr lang="en-GB" sz="1800" dirty="0" smtClean="0"/>
              <a:t> </a:t>
            </a:r>
            <a:r>
              <a:rPr lang="en-GB" sz="1800" b="0" dirty="0" smtClean="0"/>
              <a:t>is the key personnel here and we have in total handled a total project value of USD 290 million from here.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b="0" dirty="0" smtClean="0"/>
              <a:t>Currently, a further 330 million is under consideration. </a:t>
            </a:r>
            <a:endParaRPr lang="en-US" sz="1800" b="0" dirty="0"/>
          </a:p>
        </p:txBody>
      </p:sp>
      <p:sp>
        <p:nvSpPr>
          <p:cNvPr id="7" name="TextBox 6"/>
          <p:cNvSpPr txBox="1"/>
          <p:nvPr/>
        </p:nvSpPr>
        <p:spPr>
          <a:xfrm>
            <a:off x="471340" y="1788932"/>
            <a:ext cx="24981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bg1"/>
                </a:solidFill>
              </a:rPr>
              <a:t>London</a:t>
            </a:r>
            <a:r>
              <a:rPr lang="en-GB" u="sng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Group HQ.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Part of </a:t>
            </a:r>
            <a:r>
              <a:rPr lang="en-GB" dirty="0" err="1" smtClean="0">
                <a:solidFill>
                  <a:schemeClr val="bg1"/>
                </a:solidFill>
              </a:rPr>
              <a:t>Esaren</a:t>
            </a:r>
            <a:r>
              <a:rPr lang="en-GB" dirty="0" smtClean="0">
                <a:solidFill>
                  <a:schemeClr val="bg1"/>
                </a:solidFill>
              </a:rPr>
              <a:t> international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All corporate, financing, legal &amp; compliance – activities handled from here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66928" y="1788932"/>
            <a:ext cx="24981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bg1"/>
                </a:solidFill>
              </a:rPr>
              <a:t>Singapore </a:t>
            </a:r>
            <a:r>
              <a:rPr lang="en-GB" u="sng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Our HQ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All fund management business development &amp; market operations – activities handled from here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0723" y="1788932"/>
            <a:ext cx="24981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>
                <a:solidFill>
                  <a:schemeClr val="bg1"/>
                </a:solidFill>
              </a:rPr>
              <a:t>G</a:t>
            </a:r>
            <a:r>
              <a:rPr lang="en-GB" b="1" u="sng" dirty="0" smtClean="0">
                <a:solidFill>
                  <a:schemeClr val="bg1"/>
                </a:solidFill>
              </a:rPr>
              <a:t>uangzhou </a:t>
            </a:r>
            <a:r>
              <a:rPr lang="en-GB" u="sng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Project management Office (PMO)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All engineering, procurement &amp; construction activities managed from here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99604" y="1788931"/>
            <a:ext cx="24981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bg1"/>
                </a:solidFill>
              </a:rPr>
              <a:t>Lagos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Our back-end office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Internal co-ordination, support services and venture support provided from here. 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32B0CB1D-E6FE-4346-B4DC-C1AC8F0F5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53523" y="4302782"/>
            <a:ext cx="2686613" cy="6667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 smtClean="0"/>
              <a:t>Mr. Kelvin Chan </a:t>
            </a:r>
            <a:r>
              <a:rPr lang="en-GB" sz="1800" b="0" dirty="0" smtClean="0"/>
              <a:t>is in-charge of this office and provides the global positioning of the company.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b="0" dirty="0" smtClean="0"/>
              <a:t>Our clientele across 20+ countries are looked after diligently from this location.  </a:t>
            </a:r>
            <a:endParaRPr lang="en-US" sz="1800" b="0" dirty="0"/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32B0CB1D-E6FE-4346-B4DC-C1AC8F0F5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31719" y="4302782"/>
            <a:ext cx="2795465" cy="6667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 err="1" smtClean="0"/>
              <a:t>Engr</a:t>
            </a:r>
            <a:r>
              <a:rPr lang="en-GB" sz="1800" dirty="0" smtClean="0"/>
              <a:t> Hong Li </a:t>
            </a:r>
            <a:r>
              <a:rPr lang="en-GB" sz="1800" dirty="0" err="1" smtClean="0"/>
              <a:t>Guo</a:t>
            </a:r>
            <a:r>
              <a:rPr lang="en-GB" sz="1800" dirty="0" smtClean="0"/>
              <a:t> </a:t>
            </a:r>
            <a:r>
              <a:rPr lang="en-GB" sz="1800" b="0" dirty="0" smtClean="0"/>
              <a:t>handles all EPC oriented support from this location with other globally dispersed team members to support him in this endeavour. The PMO also manages all ongoing projects. </a:t>
            </a:r>
            <a:endParaRPr lang="en-US" sz="1800" b="0" dirty="0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32B0CB1D-E6FE-4346-B4DC-C1AC8F0F5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06600" y="4218959"/>
            <a:ext cx="2686613" cy="6667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b="0" dirty="0" smtClean="0"/>
              <a:t>All back-end support is being handled form Lagos for the global footprint of the company. </a:t>
            </a:r>
            <a:r>
              <a:rPr lang="en-GB" sz="1800" dirty="0" smtClean="0"/>
              <a:t>Mr. </a:t>
            </a:r>
            <a:r>
              <a:rPr lang="en-GB" sz="1800" dirty="0" err="1" smtClean="0"/>
              <a:t>Taofik</a:t>
            </a:r>
            <a:r>
              <a:rPr lang="en-GB" sz="1800" dirty="0" smtClean="0"/>
              <a:t> </a:t>
            </a:r>
            <a:r>
              <a:rPr lang="en-GB" sz="1800" dirty="0" err="1" smtClean="0"/>
              <a:t>Adeleke</a:t>
            </a:r>
            <a:r>
              <a:rPr lang="en-GB" sz="1800" b="0" dirty="0" smtClean="0"/>
              <a:t> with his immense experience, has formulated a team for such engagement.  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0122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F8E5BC1-257F-4CA0-A14D-8A76F619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leadership team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4475F-A218-40AD-91D5-2A420736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DC2DEF-D2FE-4B45-ABA4-9F153FD1C9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B0CB1D-E6FE-4346-B4DC-C1AC8F0F5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8553" y="4287441"/>
            <a:ext cx="2686613" cy="666781"/>
          </a:xfrm>
        </p:spPr>
        <p:txBody>
          <a:bodyPr/>
          <a:lstStyle/>
          <a:p>
            <a:r>
              <a:rPr lang="en-GB" sz="1800" dirty="0" err="1" smtClean="0">
                <a:latin typeface="Arial Black" panose="020B0A04020102020204" pitchFamily="34" charset="0"/>
              </a:rPr>
              <a:t>Naila</a:t>
            </a:r>
            <a:r>
              <a:rPr lang="en-GB" sz="1800" dirty="0" smtClean="0">
                <a:latin typeface="Arial Black" panose="020B0A04020102020204" pitchFamily="34" charset="0"/>
              </a:rPr>
              <a:t> </a:t>
            </a:r>
            <a:r>
              <a:rPr lang="en-GB" sz="1800" dirty="0">
                <a:latin typeface="Arial Black" panose="020B0A04020102020204" pitchFamily="34" charset="0"/>
              </a:rPr>
              <a:t>C</a:t>
            </a:r>
            <a:r>
              <a:rPr lang="en-GB" sz="1800" dirty="0" smtClean="0">
                <a:latin typeface="Arial Black" panose="020B0A04020102020204" pitchFamily="34" charset="0"/>
              </a:rPr>
              <a:t>howdhury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EBA6953-980C-4C61-AFA3-018201F6E2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8553" y="4643504"/>
            <a:ext cx="2775344" cy="666781"/>
          </a:xfrm>
        </p:spPr>
        <p:txBody>
          <a:bodyPr/>
          <a:lstStyle/>
          <a:p>
            <a:r>
              <a:rPr lang="en-GB" sz="1800" b="1" dirty="0" smtClean="0"/>
              <a:t>Chairperson</a:t>
            </a:r>
          </a:p>
          <a:p>
            <a:r>
              <a:rPr lang="en-GB" dirty="0" smtClean="0"/>
              <a:t>A Global leader, entrepreneur and social activist - based out of San Diego, USA. 35+ years of experience in telecom, development, investment, technology,  etc</a:t>
            </a:r>
            <a:r>
              <a:rPr lang="en-GB" dirty="0" smtClean="0"/>
              <a:t>. She also sits at board level with different other global entities as well </a:t>
            </a:r>
            <a:endParaRPr lang="en-GB" dirty="0" smtClean="0"/>
          </a:p>
          <a:p>
            <a:r>
              <a:rPr lang="en-GB" dirty="0" smtClean="0"/>
              <a:t> </a:t>
            </a:r>
            <a:r>
              <a:rPr lang="en-GB" b="1" dirty="0" smtClean="0"/>
              <a:t>  </a:t>
            </a:r>
            <a:endParaRPr lang="en-US" b="1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EA45180-5246-464E-BDD0-2AB792997E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33178" y="4272747"/>
            <a:ext cx="2686613" cy="666781"/>
          </a:xfrm>
        </p:spPr>
        <p:txBody>
          <a:bodyPr/>
          <a:lstStyle/>
          <a:p>
            <a:r>
              <a:rPr lang="en-GB" sz="1800" dirty="0" smtClean="0">
                <a:latin typeface="Arial Black" panose="020B0A04020102020204" pitchFamily="34" charset="0"/>
              </a:rPr>
              <a:t>Suresh </a:t>
            </a:r>
            <a:r>
              <a:rPr lang="en-GB" sz="1800" dirty="0" err="1" smtClean="0">
                <a:latin typeface="Arial Black" panose="020B0A04020102020204" pitchFamily="34" charset="0"/>
              </a:rPr>
              <a:t>Sivarajah</a:t>
            </a:r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61202C-1274-459A-A89D-C23AE8A261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21250" y="4643504"/>
            <a:ext cx="2959283" cy="666781"/>
          </a:xfrm>
        </p:spPr>
        <p:txBody>
          <a:bodyPr/>
          <a:lstStyle/>
          <a:p>
            <a:r>
              <a:rPr lang="en-GB" sz="1800" b="1" dirty="0" smtClean="0">
                <a:ea typeface="Calibri" panose="020F0502020204030204" pitchFamily="34" charset="0"/>
                <a:cs typeface="Calibri" panose="020F0502020204030204" pitchFamily="34" charset="0"/>
              </a:rPr>
              <a:t>Vice Chairman</a:t>
            </a:r>
            <a:endParaRPr lang="en-US" sz="18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 smtClean="0">
                <a:ea typeface="Calibri" panose="020F0502020204030204" pitchFamily="34" charset="0"/>
                <a:cs typeface="Calibri" panose="020F0502020204030204" pitchFamily="34" charset="0"/>
              </a:rPr>
              <a:t>35+ years of experience in energy, trading, real estate and finance. Based in London, UK and founder &amp; CEO of </a:t>
            </a:r>
            <a:r>
              <a:rPr lang="en-GB" dirty="0" err="1"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GB" dirty="0" err="1" smtClean="0">
                <a:ea typeface="Calibri" panose="020F0502020204030204" pitchFamily="34" charset="0"/>
                <a:cs typeface="Calibri" panose="020F0502020204030204" pitchFamily="34" charset="0"/>
              </a:rPr>
              <a:t>saren</a:t>
            </a:r>
            <a:r>
              <a:rPr lang="en-GB" dirty="0" smtClean="0">
                <a:ea typeface="Calibri" panose="020F0502020204030204" pitchFamily="34" charset="0"/>
                <a:cs typeface="Calibri" panose="020F0502020204030204" pitchFamily="34" charset="0"/>
              </a:rPr>
              <a:t> International Group. A graduate from prestigious Wellington College, Suresh is a global entrepreneur.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7A4F278-30B9-44DC-81DE-0BB8DC7D9B4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69264" y="4272747"/>
            <a:ext cx="2686613" cy="666781"/>
          </a:xfrm>
        </p:spPr>
        <p:txBody>
          <a:bodyPr/>
          <a:lstStyle/>
          <a:p>
            <a:r>
              <a:rPr lang="en-GB" sz="1800" dirty="0" err="1" smtClean="0">
                <a:latin typeface="Arial Black" panose="020B0A04020102020204" pitchFamily="34" charset="0"/>
              </a:rPr>
              <a:t>Ruhsan</a:t>
            </a:r>
            <a:r>
              <a:rPr lang="en-GB" sz="1800" dirty="0" smtClean="0">
                <a:latin typeface="Arial Black" panose="020B0A04020102020204" pitchFamily="34" charset="0"/>
              </a:rPr>
              <a:t> Rahman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72C0BC-293C-400A-8073-0246B833FC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205350" y="4272746"/>
            <a:ext cx="2686613" cy="666781"/>
          </a:xfrm>
        </p:spPr>
        <p:txBody>
          <a:bodyPr/>
          <a:lstStyle/>
          <a:p>
            <a:r>
              <a:rPr lang="en-GB" dirty="0" smtClean="0">
                <a:latin typeface="Arial Black" panose="020B0A04020102020204" pitchFamily="34" charset="0"/>
              </a:rPr>
              <a:t>Catherine </a:t>
            </a:r>
            <a:r>
              <a:rPr lang="en-GB" dirty="0">
                <a:latin typeface="Arial Black" panose="020B0A04020102020204" pitchFamily="34" charset="0"/>
              </a:rPr>
              <a:t>W</a:t>
            </a:r>
            <a:r>
              <a:rPr lang="en-GB" dirty="0" smtClean="0">
                <a:latin typeface="Arial Black" panose="020B0A04020102020204" pitchFamily="34" charset="0"/>
              </a:rPr>
              <a:t>ong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7CB8132-D875-4ED5-9967-5C58F21B10E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205350" y="4538102"/>
            <a:ext cx="2986650" cy="666781"/>
          </a:xfrm>
        </p:spPr>
        <p:txBody>
          <a:bodyPr/>
          <a:lstStyle/>
          <a:p>
            <a:r>
              <a:rPr lang="en-GB" sz="1800" b="1" dirty="0" smtClean="0"/>
              <a:t>Sr. Partner</a:t>
            </a:r>
          </a:p>
          <a:p>
            <a:r>
              <a:rPr lang="en-GB" dirty="0" smtClean="0"/>
              <a:t>Catherine is a former investment banker and also was part of a venture capital for almost 20+ years. She is now a part of our fund management team based out of Singapore offering fund management and Special Purpose Vehicle (SPV) support for projects </a:t>
            </a:r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E61202C-1274-459A-A89D-C23AE8A261C7}"/>
              </a:ext>
            </a:extLst>
          </p:cNvPr>
          <p:cNvSpPr txBox="1">
            <a:spLocks/>
          </p:cNvSpPr>
          <p:nvPr/>
        </p:nvSpPr>
        <p:spPr>
          <a:xfrm>
            <a:off x="6326617" y="4608904"/>
            <a:ext cx="2686613" cy="6667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363F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Managing Partner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 smtClean="0">
                <a:solidFill>
                  <a:srgbClr val="3236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Ruhsan</a:t>
            </a:r>
            <a:r>
              <a:rPr lang="en-GB" dirty="0" smtClean="0">
                <a:solidFill>
                  <a:srgbClr val="3236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is a business developer, strategist and investment expert. He has a 30+ years of background in technology, energy, infrastructure development and investment. 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rgbClr val="32363F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Placeholder 12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8" b="13748"/>
          <a:stretch>
            <a:fillRect/>
          </a:stretch>
        </p:blipFill>
        <p:spPr/>
      </p:pic>
      <p:pic>
        <p:nvPicPr>
          <p:cNvPr id="16" name="Picture Placeholder 15"/>
          <p:cNvPicPr>
            <a:picLocks noGrp="1" noChangeAspect="1"/>
          </p:cNvPicPr>
          <p:nvPr>
            <p:ph type="pic" sz="quarter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4" b="9414"/>
          <a:stretch>
            <a:fillRect/>
          </a:stretch>
        </p:blipFill>
        <p:spPr/>
      </p:pic>
      <p:pic>
        <p:nvPicPr>
          <p:cNvPr id="27" name="Picture Placeholder 26"/>
          <p:cNvPicPr>
            <a:picLocks noGrp="1" noChangeAspect="1"/>
          </p:cNvPicPr>
          <p:nvPr>
            <p:ph type="pic" sz="quarter" idx="2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 b="5407"/>
          <a:stretch>
            <a:fillRect/>
          </a:stretch>
        </p:blipFill>
        <p:spPr/>
      </p:pic>
      <p:pic>
        <p:nvPicPr>
          <p:cNvPr id="4" name="Picture Placeholder 3"/>
          <p:cNvPicPr>
            <a:picLocks noGrp="1" noChangeAspect="1"/>
          </p:cNvPicPr>
          <p:nvPr>
            <p:ph type="pic" sz="quarter" idx="2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81" b="10981"/>
          <a:stretch>
            <a:fillRect/>
          </a:stretch>
        </p:blipFill>
        <p:spPr/>
      </p:pic>
      <p:sp>
        <p:nvSpPr>
          <p:cNvPr id="2" name="Rectangle 1"/>
          <p:cNvSpPr/>
          <p:nvPr/>
        </p:nvSpPr>
        <p:spPr>
          <a:xfrm>
            <a:off x="6853287" y="5948313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202484" y="4390493"/>
            <a:ext cx="18853" cy="2294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258693" y="4439841"/>
            <a:ext cx="18853" cy="2294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177665" y="4272746"/>
            <a:ext cx="18853" cy="2294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0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F8E5BC1-257F-4CA0-A14D-8A76F619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core management team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4475F-A218-40AD-91D5-2A420736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B0CB1D-E6FE-4346-B4DC-C1AC8F0F5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dirty="0" err="1" smtClean="0">
                <a:latin typeface="+mn-lt"/>
              </a:rPr>
              <a:t>Taofik</a:t>
            </a:r>
            <a:r>
              <a:rPr lang="en-GB" dirty="0" smtClean="0">
                <a:latin typeface="+mn-lt"/>
              </a:rPr>
              <a:t> </a:t>
            </a:r>
            <a:r>
              <a:rPr lang="en-GB" dirty="0" err="1">
                <a:latin typeface="+mn-lt"/>
              </a:rPr>
              <a:t>A</a:t>
            </a:r>
            <a:r>
              <a:rPr lang="en-GB" dirty="0" err="1" smtClean="0">
                <a:latin typeface="+mn-lt"/>
              </a:rPr>
              <a:t>deleke</a:t>
            </a:r>
            <a:endParaRPr lang="en-US" dirty="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EBA6953-980C-4C61-AFA3-018201F6E2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764534"/>
            <a:ext cx="3466928" cy="666781"/>
          </a:xfrm>
        </p:spPr>
        <p:txBody>
          <a:bodyPr/>
          <a:lstStyle/>
          <a:p>
            <a:r>
              <a:rPr lang="en-GB" sz="1800" b="1" dirty="0" smtClean="0"/>
              <a:t>Country Director</a:t>
            </a:r>
          </a:p>
          <a:p>
            <a:r>
              <a:rPr lang="en-GB" sz="1800" b="1" dirty="0" smtClean="0"/>
              <a:t>Nigeria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B</a:t>
            </a:r>
            <a:r>
              <a:rPr lang="en-GB" dirty="0" smtClean="0"/>
              <a:t>ased out of Lagos, </a:t>
            </a:r>
            <a:r>
              <a:rPr lang="en-GB" dirty="0" err="1"/>
              <a:t>T</a:t>
            </a:r>
            <a:r>
              <a:rPr lang="en-GB" dirty="0" err="1" smtClean="0"/>
              <a:t>aofik</a:t>
            </a:r>
            <a:r>
              <a:rPr lang="en-GB" dirty="0" smtClean="0"/>
              <a:t> manages our overall back-office for global operations and leads projects in the African region. </a:t>
            </a:r>
          </a:p>
          <a:p>
            <a:endParaRPr lang="en-US" sz="2000" b="1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EA45180-5246-464E-BDD0-2AB792997E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61202C-1274-459A-A89D-C23AE8A261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45656" y="4764535"/>
            <a:ext cx="2959283" cy="666781"/>
          </a:xfrm>
        </p:spPr>
        <p:txBody>
          <a:bodyPr/>
          <a:lstStyle/>
          <a:p>
            <a:r>
              <a:rPr lang="en-GB" sz="1800" b="1" dirty="0" smtClean="0">
                <a:ea typeface="Calibri" panose="020F0502020204030204" pitchFamily="34" charset="0"/>
                <a:cs typeface="Calibri" panose="020F0502020204030204" pitchFamily="34" charset="0"/>
              </a:rPr>
              <a:t>Country Director</a:t>
            </a:r>
            <a:endParaRPr lang="en-US" sz="18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800" b="1" dirty="0" smtClean="0">
                <a:ea typeface="Calibri" panose="020F0502020204030204" pitchFamily="34" charset="0"/>
                <a:cs typeface="Calibri" panose="020F0502020204030204" pitchFamily="34" charset="0"/>
              </a:rPr>
              <a:t> United Kingdom </a:t>
            </a:r>
            <a:endParaRPr lang="en-US" sz="18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/>
              <a:t>Based out of </a:t>
            </a:r>
            <a:r>
              <a:rPr lang="en-GB" dirty="0" smtClean="0"/>
              <a:t>London, Diana coordinates for our financing management with global partners and handles legal &amp; compliance matters</a:t>
            </a:r>
            <a:endParaRPr lang="en-US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7A4F278-30B9-44DC-81DE-0BB8DC7D9B4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C000"/>
                </a:solidFill>
                <a:latin typeface="+mn-lt"/>
              </a:rPr>
              <a:t>Engr. Hong Li </a:t>
            </a:r>
            <a:r>
              <a:rPr lang="en-GB" dirty="0" err="1" smtClean="0">
                <a:solidFill>
                  <a:srgbClr val="FFC000"/>
                </a:solidFill>
                <a:latin typeface="+mn-lt"/>
              </a:rPr>
              <a:t>Guo</a:t>
            </a:r>
            <a:endParaRPr lang="en-US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72C0BC-293C-400A-8073-0246B833FC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B050"/>
                </a:solidFill>
                <a:latin typeface="+mn-lt"/>
              </a:rPr>
              <a:t>Kelvin </a:t>
            </a:r>
            <a:r>
              <a:rPr lang="en-GB" dirty="0">
                <a:solidFill>
                  <a:srgbClr val="00B050"/>
                </a:solidFill>
                <a:latin typeface="+mn-lt"/>
              </a:rPr>
              <a:t>C</a:t>
            </a:r>
            <a:r>
              <a:rPr lang="en-GB" dirty="0" smtClean="0">
                <a:solidFill>
                  <a:srgbClr val="00B050"/>
                </a:solidFill>
                <a:latin typeface="+mn-lt"/>
              </a:rPr>
              <a:t>han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7CB8132-D875-4ED5-9967-5C58F21B10E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924024" y="4730161"/>
            <a:ext cx="3249260" cy="666781"/>
          </a:xfrm>
        </p:spPr>
        <p:txBody>
          <a:bodyPr/>
          <a:lstStyle/>
          <a:p>
            <a:r>
              <a:rPr lang="en-GB" sz="1800" b="1" dirty="0" smtClean="0"/>
              <a:t>Country Director</a:t>
            </a:r>
          </a:p>
          <a:p>
            <a:r>
              <a:rPr lang="en-GB" sz="1800" b="1" dirty="0" smtClean="0"/>
              <a:t>Singapore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/>
              <a:t>Based in Singapore city, Kelvin manages our fund management, trade and regulatory matters.  EGL is registered in Singapore and the company identities related matters are handle here </a:t>
            </a:r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E61202C-1274-459A-A89D-C23AE8A261C7}"/>
              </a:ext>
            </a:extLst>
          </p:cNvPr>
          <p:cNvSpPr txBox="1">
            <a:spLocks/>
          </p:cNvSpPr>
          <p:nvPr/>
        </p:nvSpPr>
        <p:spPr>
          <a:xfrm>
            <a:off x="6260723" y="4730161"/>
            <a:ext cx="2686613" cy="6667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 smtClean="0">
                <a:ea typeface="Calibri" panose="020F0502020204030204" pitchFamily="34" charset="0"/>
                <a:cs typeface="Calibri" panose="020F0502020204030204" pitchFamily="34" charset="0"/>
              </a:rPr>
              <a:t>Country Director</a:t>
            </a:r>
            <a:endParaRPr lang="en-US" sz="1800" b="1" dirty="0" smtClean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800" b="1" dirty="0" smtClean="0">
                <a:ea typeface="Calibri" panose="020F0502020204030204" pitchFamily="34" charset="0"/>
                <a:cs typeface="Calibri" panose="020F0502020204030204" pitchFamily="34" charset="0"/>
              </a:rPr>
              <a:t>China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 smtClean="0">
                <a:ea typeface="Calibri" panose="020F0502020204030204" pitchFamily="34" charset="0"/>
                <a:cs typeface="Calibri" panose="020F0502020204030204" pitchFamily="34" charset="0"/>
              </a:rPr>
              <a:t>Based out of Guangzhou, Engr. Hong handles our engineering, procurement and construction (EPC) support for all global projects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2" b="7212"/>
          <a:stretch>
            <a:fillRect/>
          </a:stretch>
        </p:blipFill>
        <p:spPr/>
      </p:pic>
      <p:pic>
        <p:nvPicPr>
          <p:cNvPr id="9" name="Picture Placeholder 8"/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2" b="9392"/>
          <a:stretch>
            <a:fillRect/>
          </a:stretch>
        </p:blipFill>
        <p:spPr/>
      </p:pic>
      <p:pic>
        <p:nvPicPr>
          <p:cNvPr id="6" name="Picture Placeholder 5"/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 b="5407"/>
          <a:stretch>
            <a:fillRect/>
          </a:stretch>
        </p:blipFill>
        <p:spPr/>
      </p:pic>
      <p:sp>
        <p:nvSpPr>
          <p:cNvPr id="7" name="Rectangle 6"/>
          <p:cNvSpPr/>
          <p:nvPr/>
        </p:nvSpPr>
        <p:spPr>
          <a:xfrm>
            <a:off x="3737913" y="4330051"/>
            <a:ext cx="19747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80809"/>
                </a:solidFill>
              </a:rPr>
              <a:t>Diana </a:t>
            </a:r>
            <a:r>
              <a:rPr lang="en-US" sz="2000" b="1" dirty="0" err="1">
                <a:solidFill>
                  <a:srgbClr val="080809"/>
                </a:solidFill>
              </a:rPr>
              <a:t>Sachirciuc</a:t>
            </a:r>
            <a:r>
              <a:rPr lang="en-US" sz="2000" b="1" dirty="0">
                <a:solidFill>
                  <a:srgbClr val="080809"/>
                </a:solidFill>
              </a:rPr>
              <a:t> </a:t>
            </a:r>
            <a:endParaRPr lang="en-US" sz="2000" dirty="0"/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sz="quarter" idx="2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1" b="64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8055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F8E5BC1-257F-4CA0-A14D-8A76F619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core operations team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4475F-A218-40AD-91D5-2A420736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B0CB1D-E6FE-4346-B4DC-C1AC8F0F5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1473" y="4272099"/>
            <a:ext cx="2686613" cy="666781"/>
          </a:xfrm>
        </p:spPr>
        <p:txBody>
          <a:bodyPr/>
          <a:lstStyle/>
          <a:p>
            <a:r>
              <a:rPr lang="en-GB" dirty="0" smtClean="0">
                <a:latin typeface="+mn-lt"/>
              </a:rPr>
              <a:t>Sadat Omi</a:t>
            </a:r>
            <a:endParaRPr lang="en-US" dirty="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EBA6953-980C-4C61-AFA3-018201F6E2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558378"/>
            <a:ext cx="3466928" cy="666781"/>
          </a:xfrm>
        </p:spPr>
        <p:txBody>
          <a:bodyPr/>
          <a:lstStyle/>
          <a:p>
            <a:r>
              <a:rPr lang="en-GB" sz="1800" dirty="0" smtClean="0"/>
              <a:t>Director</a:t>
            </a:r>
          </a:p>
          <a:p>
            <a:r>
              <a:rPr lang="en-GB" sz="1800" dirty="0" smtClean="0"/>
              <a:t>Strategy &amp; Coordination 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/>
              <a:t>Sadat is based out of Bangladesh and provides us with the strategic guidance for all operations as well as coordination between a diverse team of EGL globally dispersed in </a:t>
            </a:r>
            <a:r>
              <a:rPr lang="en-GB" dirty="0"/>
              <a:t>7</a:t>
            </a:r>
            <a:r>
              <a:rPr lang="en-GB" dirty="0" smtClean="0"/>
              <a:t> locations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EA45180-5246-464E-BDD0-2AB792997E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29559" y="4215739"/>
            <a:ext cx="2686613" cy="666781"/>
          </a:xfrm>
        </p:spPr>
        <p:txBody>
          <a:bodyPr/>
          <a:lstStyle/>
          <a:p>
            <a:r>
              <a:rPr lang="en-GB" dirty="0" smtClean="0">
                <a:latin typeface="+mn-lt"/>
              </a:rPr>
              <a:t>Olga </a:t>
            </a:r>
            <a:r>
              <a:rPr lang="en-GB" dirty="0" err="1" smtClean="0">
                <a:latin typeface="+mn-lt"/>
              </a:rPr>
              <a:t>Ignatieva</a:t>
            </a:r>
            <a:endParaRPr lang="en-US" dirty="0">
              <a:latin typeface="+mn-lt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61202C-1274-459A-A89D-C23AE8A261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97386" y="4605489"/>
            <a:ext cx="2959283" cy="666781"/>
          </a:xfrm>
        </p:spPr>
        <p:txBody>
          <a:bodyPr/>
          <a:lstStyle/>
          <a:p>
            <a:r>
              <a:rPr lang="en-GB" sz="1800" dirty="0" smtClean="0">
                <a:ea typeface="Calibri" panose="020F0502020204030204" pitchFamily="34" charset="0"/>
                <a:cs typeface="Calibri" panose="020F0502020204030204" pitchFamily="34" charset="0"/>
              </a:rPr>
              <a:t>Director</a:t>
            </a:r>
            <a:endParaRPr lang="en-US" sz="1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800" dirty="0" smtClean="0">
                <a:ea typeface="Calibri" panose="020F0502020204030204" pitchFamily="34" charset="0"/>
                <a:cs typeface="Calibri" panose="020F0502020204030204" pitchFamily="34" charset="0"/>
              </a:rPr>
              <a:t>Finance &amp; Investment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ea typeface="Calibri" panose="020F0502020204030204" pitchFamily="34" charset="0"/>
                <a:cs typeface="Calibri" panose="020F0502020204030204" pitchFamily="34" charset="0"/>
              </a:rPr>
              <a:t>Based out of Estonia, Olga handles our financial management and investment opportunities whereby she works with our global partners</a:t>
            </a:r>
            <a:endParaRPr lang="en-US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7A4F278-30B9-44DC-81DE-0BB8DC7D9B4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60722" y="4205081"/>
            <a:ext cx="2686613" cy="666781"/>
          </a:xfrm>
        </p:spPr>
        <p:txBody>
          <a:bodyPr/>
          <a:lstStyle/>
          <a:p>
            <a:r>
              <a:rPr lang="en-GB" dirty="0" err="1" smtClean="0">
                <a:latin typeface="+mn-lt"/>
              </a:rPr>
              <a:t>Rizwan</a:t>
            </a:r>
            <a:r>
              <a:rPr lang="en-GB" dirty="0" smtClean="0">
                <a:latin typeface="+mn-lt"/>
              </a:rPr>
              <a:t> Y. Khan</a:t>
            </a:r>
            <a:endParaRPr lang="en-US" dirty="0">
              <a:latin typeface="+mn-lt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72C0BC-293C-400A-8073-0246B833FC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50463" y="4193878"/>
            <a:ext cx="2686613" cy="666781"/>
          </a:xfrm>
        </p:spPr>
        <p:txBody>
          <a:bodyPr/>
          <a:lstStyle/>
          <a:p>
            <a:r>
              <a:rPr lang="en-GB" dirty="0" err="1" smtClean="0">
                <a:latin typeface="+mn-lt"/>
              </a:rPr>
              <a:t>Jasvinder</a:t>
            </a:r>
            <a:r>
              <a:rPr lang="en-GB" dirty="0" smtClean="0">
                <a:latin typeface="+mn-lt"/>
              </a:rPr>
              <a:t> Singh</a:t>
            </a:r>
            <a:endParaRPr lang="en-US" dirty="0">
              <a:latin typeface="+mn-lt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7CB8132-D875-4ED5-9967-5C58F21B10E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51390" y="4538471"/>
            <a:ext cx="3249260" cy="666781"/>
          </a:xfrm>
        </p:spPr>
        <p:txBody>
          <a:bodyPr/>
          <a:lstStyle/>
          <a:p>
            <a:r>
              <a:rPr lang="en-GB" sz="1800" dirty="0" smtClean="0"/>
              <a:t>Director</a:t>
            </a:r>
          </a:p>
          <a:p>
            <a:r>
              <a:rPr lang="en-GB" sz="1800" dirty="0" smtClean="0"/>
              <a:t>Market Operations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/>
              <a:t>Jas, as we call him, is based in Singapore and handles our all global marketing endeavours. His team handles digital presence of the company and branding</a:t>
            </a:r>
            <a:endParaRPr lang="en-US" sz="1800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E61202C-1274-459A-A89D-C23AE8A261C7}"/>
              </a:ext>
            </a:extLst>
          </p:cNvPr>
          <p:cNvSpPr txBox="1">
            <a:spLocks/>
          </p:cNvSpPr>
          <p:nvPr/>
        </p:nvSpPr>
        <p:spPr>
          <a:xfrm>
            <a:off x="6260722" y="4527269"/>
            <a:ext cx="2686613" cy="6667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 smtClean="0">
                <a:ea typeface="Calibri" panose="020F0502020204030204" pitchFamily="34" charset="0"/>
                <a:cs typeface="Calibri" panose="020F0502020204030204" pitchFamily="34" charset="0"/>
              </a:rPr>
              <a:t>Director</a:t>
            </a:r>
            <a:endParaRPr lang="en-US" sz="1800" dirty="0" smtClean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800" dirty="0" smtClean="0">
                <a:ea typeface="Calibri" panose="020F0502020204030204" pitchFamily="34" charset="0"/>
                <a:cs typeface="Calibri" panose="020F0502020204030204" pitchFamily="34" charset="0"/>
              </a:rPr>
              <a:t>Business Development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ea typeface="Calibri" panose="020F0502020204030204" pitchFamily="34" charset="0"/>
                <a:cs typeface="Calibri" panose="020F0502020204030204" pitchFamily="34" charset="0"/>
              </a:rPr>
              <a:t>Based in Pakistan and Singapore, </a:t>
            </a:r>
            <a:r>
              <a:rPr lang="en-GB" dirty="0" err="1" smtClean="0">
                <a:ea typeface="Calibri" panose="020F0502020204030204" pitchFamily="34" charset="0"/>
                <a:cs typeface="Calibri" panose="020F0502020204030204" pitchFamily="34" charset="0"/>
              </a:rPr>
              <a:t>Rizwan</a:t>
            </a:r>
            <a:r>
              <a:rPr lang="en-GB" dirty="0" smtClean="0">
                <a:ea typeface="Calibri" panose="020F0502020204030204" pitchFamily="34" charset="0"/>
                <a:cs typeface="Calibri" panose="020F0502020204030204" pitchFamily="34" charset="0"/>
              </a:rPr>
              <a:t> manages our global business development and the post closure relations for each project  &amp; venture 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Placeholder 12"/>
          <p:cNvPicPr>
            <a:picLocks noGrp="1" noChangeAspect="1"/>
          </p:cNvPicPr>
          <p:nvPr>
            <p:ph type="pic" sz="quarter" idx="2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28" b="15328"/>
          <a:stretch>
            <a:fillRect/>
          </a:stretch>
        </p:blipFill>
        <p:spPr/>
      </p:pic>
      <p:pic>
        <p:nvPicPr>
          <p:cNvPr id="16" name="Picture Placeholder 15"/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7" b="15317"/>
          <a:stretch>
            <a:fillRect/>
          </a:stretch>
        </p:blipFill>
        <p:spPr/>
      </p:pic>
      <p:sp>
        <p:nvSpPr>
          <p:cNvPr id="2" name="Picture Placeholder 1"/>
          <p:cNvSpPr>
            <a:spLocks noGrp="1"/>
          </p:cNvSpPr>
          <p:nvPr>
            <p:ph type="pic" sz="quarter" idx="21"/>
          </p:nvPr>
        </p:nvSpPr>
        <p:spPr/>
      </p:sp>
      <p:pic>
        <p:nvPicPr>
          <p:cNvPr id="22" name="Picture Placeholder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 b="5407"/>
          <a:stretch>
            <a:fillRect/>
          </a:stretch>
        </p:blipFill>
        <p:spPr>
          <a:xfrm>
            <a:off x="3397386" y="1749262"/>
            <a:ext cx="2494721" cy="2226366"/>
          </a:xfrm>
          <a:prstGeom prst="rect">
            <a:avLst/>
          </a:prstGeom>
        </p:spPr>
      </p:pic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9" b="133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5819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60" y="588722"/>
            <a:ext cx="11520487" cy="75564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Our core activities 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060" y="4076981"/>
            <a:ext cx="10648458" cy="518457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>
                <a:solidFill>
                  <a:srgbClr val="002060"/>
                </a:solidFill>
              </a:rPr>
              <a:t>Project </a:t>
            </a:r>
            <a:r>
              <a:rPr lang="en-GB" sz="3600" dirty="0">
                <a:solidFill>
                  <a:srgbClr val="002060"/>
                </a:solidFill>
              </a:rPr>
              <a:t>M</a:t>
            </a:r>
            <a:r>
              <a:rPr lang="en-GB" sz="3600" dirty="0" smtClean="0">
                <a:solidFill>
                  <a:srgbClr val="002060"/>
                </a:solidFill>
              </a:rPr>
              <a:t>anagement Consulting</a:t>
            </a:r>
            <a:endParaRPr lang="en-US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48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562009"/>
            <a:ext cx="11520487" cy="75564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Our key competencies for Project Management 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70922" y="2522145"/>
            <a:ext cx="1070926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GB" b="1" dirty="0" smtClean="0">
                <a:solidFill>
                  <a:srgbClr val="7A7A7A"/>
                </a:solidFill>
                <a:latin typeface="+mj-lt"/>
              </a:rPr>
              <a:t>EGL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focuses on the consulting aspects of Construction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&amp;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Communication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Engineering (Road &amp; Highways, Bridge, Steel Structures, Telecom etc.)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as a market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leader.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The company has been involved in major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construction &amp; telecom service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providing sectors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in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countries like Bangladesh, Turkey, Vietnam, Indonesia and Sri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L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anka.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 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GB" b="1" dirty="0" smtClean="0">
                <a:solidFill>
                  <a:srgbClr val="7A7A7A"/>
                </a:solidFill>
                <a:latin typeface="+mj-lt"/>
              </a:rPr>
              <a:t>EGL</a:t>
            </a:r>
            <a:r>
              <a:rPr lang="en-GB" b="1" dirty="0">
                <a:solidFill>
                  <a:srgbClr val="7A7A7A"/>
                </a:solidFill>
                <a:latin typeface="+mj-lt"/>
              </a:rPr>
              <a:t> 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offers integrated, end-to-end, future-ready construction &amp; telecommunication solutions that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major partners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rely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upon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for delivering revenue-generating services.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We have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has earned a reputation for rendering uncompromising quality,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flexibility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and on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time-bound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budget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based solutions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. Known for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our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ability to translate client needs into scalable, flexible, cost-effective solutions,</a:t>
            </a:r>
            <a:r>
              <a:rPr lang="en-GB" b="1" dirty="0">
                <a:solidFill>
                  <a:srgbClr val="7A7A7A"/>
                </a:solidFill>
                <a:latin typeface="+mj-lt"/>
              </a:rPr>
              <a:t> </a:t>
            </a:r>
            <a:r>
              <a:rPr lang="en-GB" b="1" dirty="0" smtClean="0">
                <a:solidFill>
                  <a:srgbClr val="7A7A7A"/>
                </a:solidFill>
                <a:latin typeface="+mj-lt"/>
              </a:rPr>
              <a:t>EGL</a:t>
            </a:r>
            <a:r>
              <a:rPr lang="en-GB" b="1" dirty="0">
                <a:solidFill>
                  <a:srgbClr val="7A7A7A"/>
                </a:solidFill>
                <a:latin typeface="+mj-lt"/>
              </a:rPr>
              <a:t> 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builds project that increases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the value of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our partner’s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network infrastructure and reduce operating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expenses.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GB" dirty="0" smtClean="0">
                <a:solidFill>
                  <a:srgbClr val="7A7A7A"/>
                </a:solidFill>
                <a:latin typeface="+mj-lt"/>
              </a:rPr>
              <a:t>From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construction, basic network infrastructure services to planning, coordinating and implementing complex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construction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, network integration projects, </a:t>
            </a:r>
            <a:r>
              <a:rPr lang="en-GB" b="1" dirty="0" smtClean="0">
                <a:solidFill>
                  <a:srgbClr val="7A7A7A"/>
                </a:solidFill>
                <a:latin typeface="+mj-lt"/>
              </a:rPr>
              <a:t>EGL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’s experience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, professionalism, and efficiency, allows for unparalleled performance. With </a:t>
            </a:r>
            <a:r>
              <a:rPr lang="en-GB" dirty="0" smtClean="0">
                <a:solidFill>
                  <a:srgbClr val="7A7A7A"/>
                </a:solidFill>
                <a:latin typeface="+mj-lt"/>
              </a:rPr>
              <a:t>an </a:t>
            </a:r>
            <a:r>
              <a:rPr lang="en-GB" dirty="0">
                <a:solidFill>
                  <a:srgbClr val="7A7A7A"/>
                </a:solidFill>
                <a:latin typeface="+mj-lt"/>
              </a:rPr>
              <a:t>unique team of industry leading talent, we have built and implemented a menu driven service model that allows our clients the maximum amount of flexibility when addressing their networking needs.</a:t>
            </a:r>
            <a:endParaRPr lang="en-GB" b="0" dirty="0">
              <a:solidFill>
                <a:srgbClr val="7A7A7A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0949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10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442" y="707066"/>
            <a:ext cx="10648458" cy="518457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>
                <a:solidFill>
                  <a:schemeClr val="bg1"/>
                </a:solidFill>
              </a:rPr>
              <a:t>Project </a:t>
            </a:r>
            <a:r>
              <a:rPr lang="en-GB" sz="3600" dirty="0">
                <a:solidFill>
                  <a:schemeClr val="bg1"/>
                </a:solidFill>
              </a:rPr>
              <a:t>M</a:t>
            </a:r>
            <a:r>
              <a:rPr lang="en-GB" sz="3600" dirty="0" smtClean="0">
                <a:solidFill>
                  <a:schemeClr val="bg1"/>
                </a:solidFill>
              </a:rPr>
              <a:t>anagement Consulting Cycle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25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9227" y="2170420"/>
            <a:ext cx="6767057" cy="461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6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5975" y="200665"/>
            <a:ext cx="760539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dirty="0" smtClean="0">
                <a:latin typeface="Arial"/>
                <a:cs typeface="Arial"/>
              </a:rPr>
              <a:t>  Our stakeholders’ procedure</a:t>
            </a:r>
            <a:r>
              <a:rPr spc="-10" dirty="0" smtClean="0">
                <a:latin typeface="Arial"/>
                <a:cs typeface="Arial"/>
              </a:rPr>
              <a:t>:</a:t>
            </a:r>
            <a:endParaRPr spc="-1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1373" y="1095501"/>
            <a:ext cx="11770995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In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order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successfully accomplish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lang="en-GB" dirty="0" smtClean="0">
                <a:latin typeface="Calibri"/>
                <a:cs typeface="Calibri"/>
              </a:rPr>
              <a:t>EG</a:t>
            </a:r>
            <a:r>
              <a:rPr dirty="0" smtClean="0">
                <a:latin typeface="Calibri"/>
                <a:cs typeface="Calibri"/>
              </a:rPr>
              <a:t>L</a:t>
            </a:r>
            <a:r>
              <a:rPr spc="-15" dirty="0" smtClean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follows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strong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adherence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process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flow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connecting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all </a:t>
            </a:r>
            <a:r>
              <a:rPr dirty="0">
                <a:latin typeface="Calibri"/>
                <a:cs typeface="Calibri"/>
              </a:rPr>
              <a:t>necessary</a:t>
            </a:r>
            <a:r>
              <a:rPr spc="8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stakeholders.</a:t>
            </a:r>
            <a:r>
              <a:rPr spc="3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3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initialization</a:t>
            </a:r>
            <a:r>
              <a:rPr spc="8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3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completion,</a:t>
            </a:r>
            <a:r>
              <a:rPr spc="95" dirty="0">
                <a:latin typeface="Calibri"/>
                <a:cs typeface="Calibri"/>
              </a:rPr>
              <a:t>  </a:t>
            </a:r>
            <a:r>
              <a:rPr lang="en-GB" spc="95" dirty="0" smtClean="0">
                <a:latin typeface="Calibri"/>
                <a:cs typeface="Calibri"/>
              </a:rPr>
              <a:t>EG</a:t>
            </a:r>
            <a:r>
              <a:rPr dirty="0" smtClean="0">
                <a:latin typeface="Calibri"/>
                <a:cs typeface="Calibri"/>
              </a:rPr>
              <a:t>L</a:t>
            </a:r>
            <a:r>
              <a:rPr spc="360" dirty="0" smtClean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tags</a:t>
            </a:r>
            <a:r>
              <a:rPr spc="3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8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required</a:t>
            </a:r>
            <a:r>
              <a:rPr spc="8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partner</a:t>
            </a:r>
            <a:r>
              <a:rPr spc="7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6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properly</a:t>
            </a:r>
            <a:r>
              <a:rPr spc="65" dirty="0">
                <a:latin typeface="Calibri"/>
                <a:cs typeface="Calibri"/>
              </a:rPr>
              <a:t>  </a:t>
            </a:r>
            <a:r>
              <a:rPr spc="-25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successfully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execute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project.</a:t>
            </a:r>
            <a:r>
              <a:rPr spc="-11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possible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step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1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step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approach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could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be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359" y="2344623"/>
            <a:ext cx="5091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18840" algn="l"/>
              </a:tabLst>
            </a:pPr>
            <a:r>
              <a:rPr sz="1800" b="1" dirty="0">
                <a:latin typeface="Calibri"/>
                <a:cs typeface="Calibri"/>
              </a:rPr>
              <a:t>Primary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phase: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20" dirty="0">
                <a:latin typeface="Calibri"/>
                <a:cs typeface="Calibri"/>
              </a:rPr>
              <a:t>Evaluation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phase: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846" y="2893314"/>
            <a:ext cx="2447290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6870" algn="l"/>
              </a:tabLst>
            </a:pPr>
            <a:r>
              <a:rPr sz="1800" spc="-10" dirty="0">
                <a:latin typeface="Calibri"/>
                <a:cs typeface="Calibri"/>
              </a:rPr>
              <a:t>Determining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feasibility</a:t>
            </a:r>
            <a:endParaRPr sz="18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lang="en-GB" sz="1800" dirty="0" smtClean="0">
                <a:latin typeface="Calibri"/>
                <a:cs typeface="Calibri"/>
              </a:rPr>
              <a:t>Creation of the Project Management Office (PMO)</a:t>
            </a: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1800" dirty="0" smtClean="0">
                <a:latin typeface="Calibri"/>
                <a:cs typeface="Calibri"/>
              </a:rPr>
              <a:t>Setting</a:t>
            </a:r>
            <a:r>
              <a:rPr sz="1800" spc="-50" dirty="0" smtClean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budget</a:t>
            </a:r>
            <a:endParaRPr sz="1800" dirty="0">
              <a:latin typeface="Calibri"/>
              <a:cs typeface="Calibri"/>
            </a:endParaRPr>
          </a:p>
          <a:p>
            <a:pPr marL="356870" marR="80645" indent="-344805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1800" spc="-10" dirty="0">
                <a:latin typeface="Calibri"/>
                <a:cs typeface="Calibri"/>
              </a:rPr>
              <a:t>Proposing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proper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 smtClean="0">
                <a:latin typeface="Calibri"/>
                <a:cs typeface="Calibri"/>
              </a:rPr>
              <a:t>guideline</a:t>
            </a:r>
            <a:r>
              <a:rPr lang="en-GB" sz="1800" spc="-10" dirty="0" smtClean="0">
                <a:latin typeface="Calibri"/>
                <a:cs typeface="Calibri"/>
              </a:rPr>
              <a:t> for execution </a:t>
            </a:r>
            <a:endParaRPr sz="18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1800" spc="-10" dirty="0" smtClean="0">
                <a:latin typeface="Calibri"/>
                <a:cs typeface="Calibri"/>
              </a:rPr>
              <a:t>Allocating</a:t>
            </a:r>
            <a:r>
              <a:rPr sz="1800" spc="-40" dirty="0" smtClean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relevant</a:t>
            </a:r>
            <a:endParaRPr sz="1800" dirty="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lang="en-US" sz="1800" spc="-10" dirty="0" smtClean="0">
                <a:latin typeface="Calibri"/>
                <a:cs typeface="Calibri"/>
              </a:rPr>
              <a:t>M</a:t>
            </a:r>
            <a:r>
              <a:rPr sz="1800" spc="-10" dirty="0" smtClean="0">
                <a:latin typeface="Calibri"/>
                <a:cs typeface="Calibri"/>
              </a:rPr>
              <a:t>anpower</a:t>
            </a:r>
            <a:r>
              <a:rPr lang="en-GB" sz="1800" spc="-10" dirty="0" smtClean="0">
                <a:latin typeface="Calibri"/>
                <a:cs typeface="Calibri"/>
              </a:rPr>
              <a:t> </a:t>
            </a:r>
            <a:r>
              <a:rPr lang="en-GB" spc="-10" dirty="0" smtClean="0">
                <a:latin typeface="Calibri"/>
                <a:cs typeface="Calibri"/>
              </a:rPr>
              <a:t> </a:t>
            </a:r>
            <a:endParaRPr lang="en-GB" sz="1800" spc="-10" dirty="0" smtClean="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endParaRPr sz="18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01695" y="6099047"/>
            <a:ext cx="741045" cy="329565"/>
            <a:chOff x="2901695" y="6099047"/>
            <a:chExt cx="741045" cy="329565"/>
          </a:xfrm>
        </p:grpSpPr>
        <p:sp>
          <p:nvSpPr>
            <p:cNvPr id="7" name="object 7"/>
            <p:cNvSpPr/>
            <p:nvPr/>
          </p:nvSpPr>
          <p:spPr>
            <a:xfrm>
              <a:off x="2907791" y="6105143"/>
              <a:ext cx="728980" cy="317500"/>
            </a:xfrm>
            <a:custGeom>
              <a:avLst/>
              <a:gdLst/>
              <a:ahLst/>
              <a:cxnLst/>
              <a:rect l="l" t="t" r="r" b="b"/>
              <a:pathLst>
                <a:path w="728979" h="317500">
                  <a:moveTo>
                    <a:pt x="569975" y="0"/>
                  </a:moveTo>
                  <a:lnTo>
                    <a:pt x="569975" y="79247"/>
                  </a:lnTo>
                  <a:lnTo>
                    <a:pt x="0" y="79247"/>
                  </a:lnTo>
                  <a:lnTo>
                    <a:pt x="0" y="237743"/>
                  </a:lnTo>
                  <a:lnTo>
                    <a:pt x="569975" y="237743"/>
                  </a:lnTo>
                  <a:lnTo>
                    <a:pt x="569975" y="316991"/>
                  </a:lnTo>
                  <a:lnTo>
                    <a:pt x="728471" y="158495"/>
                  </a:lnTo>
                  <a:lnTo>
                    <a:pt x="569975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07791" y="6105143"/>
              <a:ext cx="728980" cy="317500"/>
            </a:xfrm>
            <a:custGeom>
              <a:avLst/>
              <a:gdLst/>
              <a:ahLst/>
              <a:cxnLst/>
              <a:rect l="l" t="t" r="r" b="b"/>
              <a:pathLst>
                <a:path w="728979" h="317500">
                  <a:moveTo>
                    <a:pt x="0" y="79247"/>
                  </a:moveTo>
                  <a:lnTo>
                    <a:pt x="569975" y="79247"/>
                  </a:lnTo>
                  <a:lnTo>
                    <a:pt x="569975" y="0"/>
                  </a:lnTo>
                  <a:lnTo>
                    <a:pt x="728471" y="158495"/>
                  </a:lnTo>
                  <a:lnTo>
                    <a:pt x="569975" y="316991"/>
                  </a:lnTo>
                  <a:lnTo>
                    <a:pt x="569975" y="237743"/>
                  </a:lnTo>
                  <a:lnTo>
                    <a:pt x="0" y="237743"/>
                  </a:lnTo>
                  <a:lnTo>
                    <a:pt x="0" y="79247"/>
                  </a:lnTo>
                  <a:close/>
                </a:path>
              </a:pathLst>
            </a:custGeom>
            <a:ln w="12192">
              <a:solidFill>
                <a:srgbClr val="416F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3983" y="5757671"/>
            <a:ext cx="2173605" cy="960119"/>
          </a:xfrm>
          <a:prstGeom prst="rect">
            <a:avLst/>
          </a:prstGeom>
          <a:solidFill>
            <a:srgbClr val="5B9BD3"/>
          </a:solidFill>
          <a:ln w="12190">
            <a:solidFill>
              <a:srgbClr val="416F9C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40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internally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49167" y="3078479"/>
            <a:ext cx="0" cy="2447290"/>
          </a:xfrm>
          <a:custGeom>
            <a:avLst/>
            <a:gdLst/>
            <a:ahLst/>
            <a:cxnLst/>
            <a:rect l="l" t="t" r="r" b="b"/>
            <a:pathLst>
              <a:path h="2447290">
                <a:moveTo>
                  <a:pt x="0" y="0"/>
                </a:moveTo>
                <a:lnTo>
                  <a:pt x="0" y="2447036"/>
                </a:lnTo>
              </a:path>
            </a:pathLst>
          </a:custGeom>
          <a:ln w="6096">
            <a:solidFill>
              <a:srgbClr val="5B9B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56354" y="2893314"/>
            <a:ext cx="272605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0370" marR="93345" indent="-344805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20370" algn="l"/>
                <a:tab pos="422275" algn="l"/>
              </a:tabLst>
            </a:pPr>
            <a:r>
              <a:rPr sz="1800" dirty="0">
                <a:latin typeface="Calibri"/>
                <a:cs typeface="Calibri"/>
              </a:rPr>
              <a:t>	Possible</a:t>
            </a:r>
            <a:r>
              <a:rPr sz="1800" spc="-10" dirty="0">
                <a:latin typeface="Calibri"/>
                <a:cs typeface="Calibri"/>
              </a:rPr>
              <a:t> involvement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JV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partner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defining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planning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</a:t>
            </a:r>
            <a:endParaRPr sz="1800" dirty="0">
              <a:latin typeface="Calibri"/>
              <a:cs typeface="Calibri"/>
            </a:endParaRPr>
          </a:p>
          <a:p>
            <a:pPr marL="420370" marR="664845" indent="-344805">
              <a:lnSpc>
                <a:spcPct val="100000"/>
              </a:lnSpc>
              <a:buAutoNum type="arabicPeriod"/>
              <a:tabLst>
                <a:tab pos="420370" algn="l"/>
                <a:tab pos="422275" algn="l"/>
              </a:tabLst>
            </a:pPr>
            <a:r>
              <a:rPr sz="1800" dirty="0">
                <a:latin typeface="Calibri"/>
                <a:cs typeface="Calibri"/>
              </a:rPr>
              <a:t>	Joint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allocation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resources</a:t>
            </a:r>
            <a:endParaRPr sz="1800" dirty="0">
              <a:latin typeface="Calibri"/>
              <a:cs typeface="Calibri"/>
            </a:endParaRPr>
          </a:p>
          <a:p>
            <a:pPr marL="420370" marR="416559" indent="-344805">
              <a:lnSpc>
                <a:spcPct val="100000"/>
              </a:lnSpc>
              <a:buAutoNum type="arabicPeriod"/>
              <a:tabLst>
                <a:tab pos="420370" algn="l"/>
              </a:tabLst>
            </a:pPr>
            <a:r>
              <a:rPr sz="1800" spc="-10" dirty="0">
                <a:latin typeface="Calibri"/>
                <a:cs typeface="Calibri"/>
              </a:rPr>
              <a:t>Creation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banking </a:t>
            </a:r>
            <a:r>
              <a:rPr sz="1800" dirty="0">
                <a:latin typeface="Calibri"/>
                <a:cs typeface="Calibri"/>
              </a:rPr>
              <a:t>channels,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required</a:t>
            </a:r>
            <a:endParaRPr sz="1800" dirty="0">
              <a:latin typeface="Calibri"/>
              <a:cs typeface="Calibri"/>
            </a:endParaRPr>
          </a:p>
          <a:p>
            <a:pPr marL="420370" marR="81280" indent="-344805">
              <a:lnSpc>
                <a:spcPct val="100000"/>
              </a:lnSpc>
              <a:buAutoNum type="arabicPeriod"/>
              <a:tabLst>
                <a:tab pos="420370" algn="l"/>
              </a:tabLst>
            </a:pPr>
            <a:r>
              <a:rPr sz="1800" spc="-10" dirty="0">
                <a:latin typeface="Calibri"/>
                <a:cs typeface="Calibri"/>
              </a:rPr>
              <a:t>Mobilization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baseline="20833" dirty="0">
                <a:latin typeface="Calibri"/>
                <a:cs typeface="Calibri"/>
              </a:rPr>
              <a:t>rd</a:t>
            </a:r>
            <a:r>
              <a:rPr sz="1800" spc="97" baseline="20833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party </a:t>
            </a:r>
            <a:r>
              <a:rPr sz="1800" spc="-10" dirty="0">
                <a:latin typeface="Calibri"/>
                <a:cs typeface="Calibri"/>
              </a:rPr>
              <a:t>stakeholders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52088" y="5757670"/>
            <a:ext cx="2874645" cy="1012190"/>
          </a:xfrm>
          <a:prstGeom prst="rect">
            <a:avLst/>
          </a:prstGeom>
          <a:solidFill>
            <a:srgbClr val="5B9BD3"/>
          </a:solidFill>
          <a:ln w="12192">
            <a:solidFill>
              <a:srgbClr val="416F9C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157480" marR="160020" indent="164465">
              <a:lnSpc>
                <a:spcPct val="100000"/>
              </a:lnSpc>
              <a:spcBef>
                <a:spcPts val="161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jointly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JV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partners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baseline="20833" dirty="0">
                <a:solidFill>
                  <a:srgbClr val="FFFFFF"/>
                </a:solidFill>
                <a:latin typeface="Calibri"/>
                <a:cs typeface="Calibri"/>
              </a:rPr>
              <a:t>rd</a:t>
            </a:r>
            <a:r>
              <a:rPr sz="1800" spc="82" baseline="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party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groups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5719" y="5757671"/>
            <a:ext cx="3310254" cy="960119"/>
          </a:xfrm>
          <a:prstGeom prst="rect">
            <a:avLst/>
          </a:prstGeom>
          <a:solidFill>
            <a:srgbClr val="5B9BD3"/>
          </a:solidFill>
          <a:ln w="12192">
            <a:solidFill>
              <a:srgbClr val="416F9C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741680" marR="195580" indent="-553720">
              <a:lnSpc>
                <a:spcPct val="100000"/>
              </a:lnSpc>
              <a:spcBef>
                <a:spcPts val="140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stakeholders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adhere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strict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14743" y="6071615"/>
            <a:ext cx="741045" cy="329565"/>
            <a:chOff x="6714743" y="6071615"/>
            <a:chExt cx="741045" cy="329565"/>
          </a:xfrm>
        </p:grpSpPr>
        <p:sp>
          <p:nvSpPr>
            <p:cNvPr id="15" name="object 15"/>
            <p:cNvSpPr/>
            <p:nvPr/>
          </p:nvSpPr>
          <p:spPr>
            <a:xfrm>
              <a:off x="6720839" y="6077711"/>
              <a:ext cx="728980" cy="317500"/>
            </a:xfrm>
            <a:custGeom>
              <a:avLst/>
              <a:gdLst/>
              <a:ahLst/>
              <a:cxnLst/>
              <a:rect l="l" t="t" r="r" b="b"/>
              <a:pathLst>
                <a:path w="728979" h="317500">
                  <a:moveTo>
                    <a:pt x="569976" y="0"/>
                  </a:moveTo>
                  <a:lnTo>
                    <a:pt x="569976" y="79247"/>
                  </a:lnTo>
                  <a:lnTo>
                    <a:pt x="0" y="79247"/>
                  </a:lnTo>
                  <a:lnTo>
                    <a:pt x="0" y="237744"/>
                  </a:lnTo>
                  <a:lnTo>
                    <a:pt x="569976" y="237744"/>
                  </a:lnTo>
                  <a:lnTo>
                    <a:pt x="569976" y="316992"/>
                  </a:lnTo>
                  <a:lnTo>
                    <a:pt x="728471" y="158495"/>
                  </a:lnTo>
                  <a:lnTo>
                    <a:pt x="569976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20839" y="6077711"/>
              <a:ext cx="728980" cy="317500"/>
            </a:xfrm>
            <a:custGeom>
              <a:avLst/>
              <a:gdLst/>
              <a:ahLst/>
              <a:cxnLst/>
              <a:rect l="l" t="t" r="r" b="b"/>
              <a:pathLst>
                <a:path w="728979" h="317500">
                  <a:moveTo>
                    <a:pt x="0" y="79247"/>
                  </a:moveTo>
                  <a:lnTo>
                    <a:pt x="569976" y="79247"/>
                  </a:lnTo>
                  <a:lnTo>
                    <a:pt x="569976" y="0"/>
                  </a:lnTo>
                  <a:lnTo>
                    <a:pt x="728471" y="158495"/>
                  </a:lnTo>
                  <a:lnTo>
                    <a:pt x="569976" y="316992"/>
                  </a:lnTo>
                  <a:lnTo>
                    <a:pt x="569976" y="237744"/>
                  </a:lnTo>
                  <a:lnTo>
                    <a:pt x="0" y="237744"/>
                  </a:lnTo>
                  <a:lnTo>
                    <a:pt x="0" y="79247"/>
                  </a:lnTo>
                  <a:close/>
                </a:path>
              </a:pathLst>
            </a:custGeom>
            <a:ln w="12192">
              <a:solidFill>
                <a:srgbClr val="416F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7098792" y="3078479"/>
            <a:ext cx="0" cy="2447290"/>
          </a:xfrm>
          <a:custGeom>
            <a:avLst/>
            <a:gdLst/>
            <a:ahLst/>
            <a:cxnLst/>
            <a:rect l="l" t="t" r="r" b="b"/>
            <a:pathLst>
              <a:path h="2447290">
                <a:moveTo>
                  <a:pt x="0" y="0"/>
                </a:moveTo>
                <a:lnTo>
                  <a:pt x="0" y="2447036"/>
                </a:lnTo>
              </a:path>
            </a:pathLst>
          </a:custGeom>
          <a:ln w="6096">
            <a:solidFill>
              <a:srgbClr val="5B9B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495538" y="2389708"/>
            <a:ext cx="1619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Execution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phase: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40648" y="2893313"/>
            <a:ext cx="316039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155575" indent="-34480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6870" algn="l"/>
              </a:tabLst>
            </a:pPr>
            <a:r>
              <a:rPr sz="1800" dirty="0">
                <a:latin typeface="Calibri"/>
                <a:cs typeface="Calibri"/>
              </a:rPr>
              <a:t>Assign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EPC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(Engineering, Procurement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Construction </a:t>
            </a:r>
            <a:r>
              <a:rPr sz="1800" spc="-20" dirty="0">
                <a:latin typeface="Calibri"/>
                <a:cs typeface="Calibri"/>
              </a:rPr>
              <a:t>partner,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</a:t>
            </a:r>
            <a:endParaRPr sz="1800" dirty="0">
              <a:latin typeface="Calibri"/>
              <a:cs typeface="Calibri"/>
            </a:endParaRPr>
          </a:p>
          <a:p>
            <a:pPr marL="356870" marR="180340" indent="-344805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1800" dirty="0">
                <a:latin typeface="Calibri"/>
                <a:cs typeface="Calibri"/>
              </a:rPr>
              <a:t>Finalize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 </a:t>
            </a:r>
            <a:r>
              <a:rPr sz="1800" dirty="0">
                <a:latin typeface="Calibri"/>
                <a:cs typeface="Calibri"/>
              </a:rPr>
              <a:t>funding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funnel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(i.e.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Special Purpose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Vehicle,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required)</a:t>
            </a:r>
            <a:endParaRPr sz="1800" dirty="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1800" dirty="0">
                <a:latin typeface="Calibri"/>
                <a:cs typeface="Calibri"/>
              </a:rPr>
              <a:t>Define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possible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execution </a:t>
            </a:r>
            <a:r>
              <a:rPr sz="1800" dirty="0">
                <a:latin typeface="Calibri"/>
                <a:cs typeface="Calibri"/>
              </a:rPr>
              <a:t>roadmap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stakeholders</a:t>
            </a:r>
            <a:endParaRPr sz="18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1800" dirty="0">
                <a:latin typeface="Calibri"/>
                <a:cs typeface="Calibri"/>
              </a:rPr>
              <a:t>Monitor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</a:t>
            </a:r>
            <a:endParaRPr sz="1800" dirty="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agreed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timeline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4743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562009"/>
            <a:ext cx="11520487" cy="75564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Our key expertise  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36947" y="2233460"/>
            <a:ext cx="7211507" cy="44319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 smtClean="0">
                <a:solidFill>
                  <a:srgbClr val="7A7A7A"/>
                </a:solidFill>
                <a:latin typeface="+mj-lt"/>
              </a:rPr>
              <a:t>Our key expertise in consulting for infrastructure sector: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7A7A7A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Road &amp; Bridge Construction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dirty="0">
                <a:solidFill>
                  <a:srgbClr val="7A7A7A"/>
                </a:solidFill>
                <a:latin typeface="+mj-lt"/>
              </a:rPr>
              <a:t> </a:t>
            </a:r>
            <a:r>
              <a:rPr lang="en-GB" altLang="en-US" dirty="0" smtClean="0">
                <a:solidFill>
                  <a:srgbClr val="7A7A7A"/>
                </a:solidFill>
                <a:latin typeface="+mj-lt"/>
              </a:rPr>
              <a:t>      Vehicular underpass construction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7A7A7A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Existing Bridge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Rehablitation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7A7A7A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Foot Over Bridges &amp; Passenger Shed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Guard Rail &amp; Street Light Post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Prefab Toll Plaza with Canopy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RCC Tall Building Construction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Gantry Road Sign &amp; New Jersey Barrier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Prefabricated Steel Building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Telecommunication High Towers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BTS Installation &amp; Commissioning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Earthing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&amp; Fire Fighting System Supply &amp;  Installation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Transmission Line Towers (RC &amp; ANC)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A7A7A"/>
                </a:solidFill>
                <a:effectLst/>
                <a:latin typeface="+mj-lt"/>
              </a:rPr>
              <a:t>       Development Contractor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7A7A7A"/>
              </a:solidFill>
              <a:effectLst/>
              <a:latin typeface="+mj-lt"/>
            </a:endParaRPr>
          </a:p>
        </p:txBody>
      </p:sp>
      <p:sp>
        <p:nvSpPr>
          <p:cNvPr id="5" name="AutoShape 2" descr="✅"/>
          <p:cNvSpPr>
            <a:spLocks noChangeAspect="1" noChangeArrowheads="1"/>
          </p:cNvSpPr>
          <p:nvPr/>
        </p:nvSpPr>
        <p:spPr bwMode="auto">
          <a:xfrm>
            <a:off x="128588" y="-1739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3" descr="✅"/>
          <p:cNvSpPr>
            <a:spLocks noChangeAspect="1" noChangeArrowheads="1"/>
          </p:cNvSpPr>
          <p:nvPr/>
        </p:nvSpPr>
        <p:spPr bwMode="auto">
          <a:xfrm>
            <a:off x="128588" y="-14509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✅"/>
          <p:cNvSpPr>
            <a:spLocks noChangeAspect="1" noChangeArrowheads="1"/>
          </p:cNvSpPr>
          <p:nvPr/>
        </p:nvSpPr>
        <p:spPr bwMode="auto">
          <a:xfrm>
            <a:off x="128588" y="-11620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5" descr="✅"/>
          <p:cNvSpPr>
            <a:spLocks noChangeAspect="1" noChangeArrowheads="1"/>
          </p:cNvSpPr>
          <p:nvPr/>
        </p:nvSpPr>
        <p:spPr bwMode="auto">
          <a:xfrm>
            <a:off x="128588" y="-873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✅"/>
          <p:cNvSpPr>
            <a:spLocks noChangeAspect="1" noChangeArrowheads="1"/>
          </p:cNvSpPr>
          <p:nvPr/>
        </p:nvSpPr>
        <p:spPr bwMode="auto">
          <a:xfrm>
            <a:off x="128588" y="-584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7" descr="✅"/>
          <p:cNvSpPr>
            <a:spLocks noChangeAspect="1" noChangeArrowheads="1"/>
          </p:cNvSpPr>
          <p:nvPr/>
        </p:nvSpPr>
        <p:spPr bwMode="auto">
          <a:xfrm>
            <a:off x="128588" y="-295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8" descr="✅"/>
          <p:cNvSpPr>
            <a:spLocks noChangeAspect="1" noChangeArrowheads="1"/>
          </p:cNvSpPr>
          <p:nvPr/>
        </p:nvSpPr>
        <p:spPr bwMode="auto">
          <a:xfrm>
            <a:off x="128588" y="-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9" descr="✅"/>
          <p:cNvSpPr>
            <a:spLocks noChangeAspect="1" noChangeArrowheads="1"/>
          </p:cNvSpPr>
          <p:nvPr/>
        </p:nvSpPr>
        <p:spPr bwMode="auto">
          <a:xfrm>
            <a:off x="128588" y="2825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0" descr="✅"/>
          <p:cNvSpPr>
            <a:spLocks noChangeAspect="1" noChangeArrowheads="1"/>
          </p:cNvSpPr>
          <p:nvPr/>
        </p:nvSpPr>
        <p:spPr bwMode="auto">
          <a:xfrm>
            <a:off x="128588" y="571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11" descr="✅"/>
          <p:cNvSpPr>
            <a:spLocks noChangeAspect="1" noChangeArrowheads="1"/>
          </p:cNvSpPr>
          <p:nvPr/>
        </p:nvSpPr>
        <p:spPr bwMode="auto">
          <a:xfrm>
            <a:off x="128588" y="860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12" descr="✅"/>
          <p:cNvSpPr>
            <a:spLocks noChangeAspect="1" noChangeArrowheads="1"/>
          </p:cNvSpPr>
          <p:nvPr/>
        </p:nvSpPr>
        <p:spPr bwMode="auto">
          <a:xfrm>
            <a:off x="128588" y="114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13" descr="✅"/>
          <p:cNvSpPr>
            <a:spLocks noChangeAspect="1" noChangeArrowheads="1"/>
          </p:cNvSpPr>
          <p:nvPr/>
        </p:nvSpPr>
        <p:spPr bwMode="auto">
          <a:xfrm>
            <a:off x="128588" y="1438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14" descr="✅"/>
          <p:cNvSpPr>
            <a:spLocks noChangeAspect="1" noChangeArrowheads="1"/>
          </p:cNvSpPr>
          <p:nvPr/>
        </p:nvSpPr>
        <p:spPr bwMode="auto">
          <a:xfrm>
            <a:off x="128588" y="172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4" name="Picture 16" descr="Construction of Savar Cantonment Underpass Project Beneath Dhaka – Aricha Highw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294" y="2233460"/>
            <a:ext cx="2448383" cy="178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393" y="3487600"/>
            <a:ext cx="2015569" cy="20155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997" y="4880683"/>
            <a:ext cx="2379680" cy="178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1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60" y="588722"/>
            <a:ext cx="11520487" cy="75564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Our core activities 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785" y="3792372"/>
            <a:ext cx="10648458" cy="518457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>
                <a:solidFill>
                  <a:srgbClr val="002060"/>
                </a:solidFill>
              </a:rPr>
              <a:t>Venture Management &amp; Strategic Partnerships</a:t>
            </a:r>
            <a:endParaRPr lang="en-US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15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14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097C6D9-3930-4866-9E88-F17648880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31718" y="2290106"/>
            <a:ext cx="5630165" cy="19534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20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Roles for Strategic Partnerships</a:t>
            </a:r>
          </a:p>
          <a:p>
            <a:pPr algn="just">
              <a:lnSpc>
                <a:spcPct val="100000"/>
              </a:lnSpc>
            </a:pPr>
            <a:r>
              <a:rPr lang="en-GB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 Strategic partnership facilitator, </a:t>
            </a:r>
            <a:r>
              <a:rPr lang="en-GB" sz="2000" dirty="0" smtClean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EGL</a:t>
            </a:r>
            <a:r>
              <a:rPr lang="en-GB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plays a major role in feasibility study, planning, financing and operations management In collaboration with a Partner. </a:t>
            </a:r>
          </a:p>
          <a:p>
            <a:pPr algn="just"/>
            <a:r>
              <a:rPr lang="en-GB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 Stakeholder partner, we offer curated legal, financing and Engineering services, if required, as well.</a:t>
            </a:r>
          </a:p>
          <a:p>
            <a:pPr algn="just"/>
            <a:r>
              <a:rPr lang="en-GB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provide knowledge based expertise as well for certain partnerships as well as offering government entities with Public-Private- Partnerships.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5" y="2380813"/>
            <a:ext cx="5582064" cy="4407269"/>
          </a:xfrm>
        </p:spPr>
        <p:txBody>
          <a:bodyPr>
            <a:norm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lang="en-GB"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Roles</a:t>
            </a:r>
            <a:r>
              <a:rPr lang="en-GB" sz="20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GB"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lang="en-GB" sz="20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GB"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Venture</a:t>
            </a:r>
            <a:r>
              <a:rPr lang="en-GB" sz="20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GB"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Management:</a:t>
            </a:r>
            <a:endParaRPr lang="en-GB" sz="20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  <a:tab pos="774700" algn="l"/>
                <a:tab pos="1422400" algn="l"/>
                <a:tab pos="1755775" algn="l"/>
                <a:tab pos="2330450" algn="l"/>
                <a:tab pos="2877820" algn="l"/>
                <a:tab pos="3304540" algn="l"/>
                <a:tab pos="3577590" algn="l"/>
                <a:tab pos="3955415" algn="l"/>
              </a:tabLst>
            </a:pPr>
            <a:r>
              <a:rPr lang="en-GB" sz="2000" spc="-25" dirty="0">
                <a:latin typeface="Calibri"/>
                <a:cs typeface="Calibri"/>
              </a:rPr>
              <a:t>As</a:t>
            </a:r>
            <a:r>
              <a:rPr lang="en-GB" sz="2000" dirty="0">
                <a:latin typeface="Calibri"/>
                <a:cs typeface="Calibri"/>
              </a:rPr>
              <a:t>	</a:t>
            </a:r>
            <a:r>
              <a:rPr lang="en-GB" sz="2000" spc="-10" dirty="0">
                <a:latin typeface="Calibri"/>
                <a:cs typeface="Calibri"/>
              </a:rPr>
              <a:t>venture</a:t>
            </a:r>
            <a:r>
              <a:rPr lang="en-GB" sz="2000" dirty="0">
                <a:latin typeface="Calibri"/>
                <a:cs typeface="Calibri"/>
              </a:rPr>
              <a:t>	</a:t>
            </a:r>
            <a:r>
              <a:rPr lang="en-GB" sz="2000" spc="-10" dirty="0">
                <a:latin typeface="Calibri"/>
                <a:cs typeface="Calibri"/>
              </a:rPr>
              <a:t>management</a:t>
            </a:r>
            <a:r>
              <a:rPr lang="en-GB" sz="2000" dirty="0">
                <a:latin typeface="Calibri"/>
                <a:cs typeface="Calibri"/>
              </a:rPr>
              <a:t>	</a:t>
            </a:r>
            <a:r>
              <a:rPr lang="en-GB" sz="2000" spc="-10" dirty="0">
                <a:latin typeface="Calibri"/>
                <a:cs typeface="Calibri"/>
              </a:rPr>
              <a:t>partners, </a:t>
            </a:r>
            <a:r>
              <a:rPr lang="en-GB" sz="2000" spc="-10" dirty="0" smtClean="0">
                <a:latin typeface="Calibri"/>
                <a:cs typeface="Calibri"/>
              </a:rPr>
              <a:t>supports</a:t>
            </a:r>
            <a:r>
              <a:rPr lang="en-GB" sz="2000" dirty="0" smtClean="0">
                <a:latin typeface="Calibri"/>
                <a:cs typeface="Calibri"/>
              </a:rPr>
              <a:t> </a:t>
            </a:r>
            <a:r>
              <a:rPr lang="en-GB" sz="2000" spc="-10" dirty="0" smtClean="0">
                <a:latin typeface="Calibri"/>
                <a:cs typeface="Calibri"/>
              </a:rPr>
              <a:t>start-up</a:t>
            </a:r>
            <a:r>
              <a:rPr lang="en-GB" sz="2000" dirty="0">
                <a:latin typeface="Calibri"/>
                <a:cs typeface="Calibri"/>
              </a:rPr>
              <a:t>	</a:t>
            </a:r>
            <a:r>
              <a:rPr lang="en-GB" sz="2000" spc="-25" dirty="0" smtClean="0">
                <a:latin typeface="Calibri"/>
                <a:cs typeface="Calibri"/>
              </a:rPr>
              <a:t>and</a:t>
            </a:r>
            <a:r>
              <a:rPr lang="en-GB" sz="2000" dirty="0" smtClean="0">
                <a:latin typeface="Calibri"/>
                <a:cs typeface="Calibri"/>
              </a:rPr>
              <a:t> </a:t>
            </a:r>
            <a:r>
              <a:rPr lang="en-GB" sz="2000" spc="-20" dirty="0" smtClean="0">
                <a:latin typeface="Calibri"/>
                <a:cs typeface="Calibri"/>
              </a:rPr>
              <a:t>small</a:t>
            </a:r>
            <a:r>
              <a:rPr lang="en-GB" sz="2000" dirty="0" smtClean="0">
                <a:latin typeface="Calibri"/>
                <a:cs typeface="Calibri"/>
              </a:rPr>
              <a:t> </a:t>
            </a:r>
            <a:r>
              <a:rPr lang="en-GB" sz="2000" spc="-25" dirty="0" smtClean="0">
                <a:latin typeface="Calibri"/>
                <a:cs typeface="Calibri"/>
              </a:rPr>
              <a:t>to</a:t>
            </a:r>
            <a:r>
              <a:rPr lang="en-GB" sz="2000" dirty="0" smtClean="0">
                <a:latin typeface="Calibri"/>
                <a:cs typeface="Calibri"/>
              </a:rPr>
              <a:t> </a:t>
            </a:r>
            <a:r>
              <a:rPr lang="en-GB" sz="2000" spc="-10" dirty="0" smtClean="0">
                <a:latin typeface="Calibri"/>
                <a:cs typeface="Calibri"/>
              </a:rPr>
              <a:t>medium </a:t>
            </a:r>
            <a:r>
              <a:rPr lang="en-GB" sz="2000" dirty="0">
                <a:latin typeface="Calibri"/>
                <a:cs typeface="Calibri"/>
              </a:rPr>
              <a:t>entities</a:t>
            </a:r>
            <a:r>
              <a:rPr lang="en-GB" sz="2000" spc="38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in</a:t>
            </a:r>
            <a:r>
              <a:rPr lang="en-GB" sz="2000" spc="36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-</a:t>
            </a:r>
            <a:r>
              <a:rPr lang="en-GB" sz="2000" spc="36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planning,</a:t>
            </a:r>
            <a:r>
              <a:rPr lang="en-GB" sz="2000" spc="35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development,</a:t>
            </a:r>
            <a:r>
              <a:rPr lang="en-GB" sz="2000" spc="360" dirty="0">
                <a:latin typeface="Calibri"/>
                <a:cs typeface="Calibri"/>
              </a:rPr>
              <a:t> </a:t>
            </a:r>
            <a:r>
              <a:rPr lang="en-GB" sz="2000" spc="-20" dirty="0">
                <a:latin typeface="Calibri"/>
                <a:cs typeface="Calibri"/>
              </a:rPr>
              <a:t>fund </a:t>
            </a:r>
            <a:r>
              <a:rPr lang="en-GB" sz="2000" spc="-10" dirty="0">
                <a:latin typeface="Calibri"/>
                <a:cs typeface="Calibri"/>
              </a:rPr>
              <a:t>management</a:t>
            </a:r>
            <a:r>
              <a:rPr lang="en-GB" sz="2000" spc="-1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and</a:t>
            </a:r>
            <a:r>
              <a:rPr lang="en-GB" sz="2000" spc="-30" dirty="0">
                <a:latin typeface="Calibri"/>
                <a:cs typeface="Calibri"/>
              </a:rPr>
              <a:t> </a:t>
            </a:r>
            <a:r>
              <a:rPr lang="en-GB" sz="2000" spc="-10" dirty="0">
                <a:latin typeface="Calibri"/>
                <a:cs typeface="Calibri"/>
              </a:rPr>
              <a:t>execution.</a:t>
            </a:r>
            <a:endParaRPr lang="en-GB" sz="2000" dirty="0">
              <a:latin typeface="Calibri"/>
              <a:cs typeface="Calibri"/>
            </a:endParaRPr>
          </a:p>
          <a:p>
            <a:pPr marL="351790" marR="5080" indent="-33909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GB" sz="2000" dirty="0">
                <a:latin typeface="Calibri"/>
                <a:cs typeface="Calibri"/>
              </a:rPr>
              <a:t>We</a:t>
            </a:r>
            <a:r>
              <a:rPr lang="en-GB" sz="2000" spc="14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also</a:t>
            </a:r>
            <a:r>
              <a:rPr lang="en-GB" sz="2000" spc="13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have</a:t>
            </a:r>
            <a:r>
              <a:rPr lang="en-GB" sz="2000" spc="12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a</a:t>
            </a:r>
            <a:r>
              <a:rPr lang="en-GB" sz="2000" spc="14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role</a:t>
            </a:r>
            <a:r>
              <a:rPr lang="en-GB" sz="2000" spc="14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of</a:t>
            </a:r>
            <a:r>
              <a:rPr lang="en-GB" sz="2000" spc="14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a</a:t>
            </a:r>
            <a:r>
              <a:rPr lang="en-GB" sz="2000" spc="15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technical</a:t>
            </a:r>
            <a:r>
              <a:rPr lang="en-GB" sz="2000" spc="135" dirty="0">
                <a:latin typeface="Calibri"/>
                <a:cs typeface="Calibri"/>
              </a:rPr>
              <a:t> </a:t>
            </a:r>
            <a:r>
              <a:rPr lang="en-GB" sz="2000" spc="-10" dirty="0">
                <a:latin typeface="Calibri"/>
                <a:cs typeface="Calibri"/>
              </a:rPr>
              <a:t>partner 	</a:t>
            </a:r>
            <a:r>
              <a:rPr lang="en-GB" sz="2000" dirty="0">
                <a:latin typeface="Calibri"/>
                <a:cs typeface="Calibri"/>
              </a:rPr>
              <a:t>whereby</a:t>
            </a:r>
            <a:r>
              <a:rPr lang="en-GB" sz="2000" spc="390" dirty="0">
                <a:latin typeface="Calibri"/>
                <a:cs typeface="Calibri"/>
              </a:rPr>
              <a:t>  </a:t>
            </a:r>
            <a:r>
              <a:rPr lang="en-GB" sz="2000" dirty="0">
                <a:latin typeface="Calibri"/>
                <a:cs typeface="Calibri"/>
              </a:rPr>
              <a:t>we</a:t>
            </a:r>
            <a:r>
              <a:rPr lang="en-GB" sz="2000" spc="390" dirty="0">
                <a:latin typeface="Calibri"/>
                <a:cs typeface="Calibri"/>
              </a:rPr>
              <a:t>  </a:t>
            </a:r>
            <a:r>
              <a:rPr lang="en-GB" sz="2000" dirty="0">
                <a:latin typeface="Calibri"/>
                <a:cs typeface="Calibri"/>
              </a:rPr>
              <a:t>cover</a:t>
            </a:r>
            <a:r>
              <a:rPr lang="en-GB" sz="2000" spc="395" dirty="0">
                <a:latin typeface="Calibri"/>
                <a:cs typeface="Calibri"/>
              </a:rPr>
              <a:t>  </a:t>
            </a:r>
            <a:r>
              <a:rPr lang="en-GB" sz="2000" dirty="0">
                <a:latin typeface="Calibri"/>
                <a:cs typeface="Calibri"/>
              </a:rPr>
              <a:t>a</a:t>
            </a:r>
            <a:r>
              <a:rPr lang="en-GB" sz="2000" spc="400" dirty="0">
                <a:latin typeface="Calibri"/>
                <a:cs typeface="Calibri"/>
              </a:rPr>
              <a:t>  </a:t>
            </a:r>
            <a:r>
              <a:rPr lang="en-GB" sz="2000" dirty="0">
                <a:latin typeface="Calibri"/>
                <a:cs typeface="Calibri"/>
              </a:rPr>
              <a:t>subject</a:t>
            </a:r>
            <a:r>
              <a:rPr lang="en-GB" sz="2000" spc="395" dirty="0">
                <a:latin typeface="Calibri"/>
                <a:cs typeface="Calibri"/>
              </a:rPr>
              <a:t>  </a:t>
            </a:r>
            <a:r>
              <a:rPr lang="en-GB" sz="2000" spc="-10" dirty="0">
                <a:latin typeface="Calibri"/>
                <a:cs typeface="Calibri"/>
              </a:rPr>
              <a:t>matter 	</a:t>
            </a:r>
            <a:r>
              <a:rPr lang="en-GB" sz="2000" dirty="0">
                <a:latin typeface="Calibri"/>
                <a:cs typeface="Calibri"/>
              </a:rPr>
              <a:t>providing the</a:t>
            </a:r>
            <a:r>
              <a:rPr lang="en-GB" sz="2000" spc="1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knowledge</a:t>
            </a:r>
            <a:r>
              <a:rPr lang="en-GB" sz="2000" spc="1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and</a:t>
            </a:r>
            <a:r>
              <a:rPr lang="en-GB" sz="2000" spc="-10" dirty="0">
                <a:latin typeface="Calibri"/>
                <a:cs typeface="Calibri"/>
              </a:rPr>
              <a:t> management 	</a:t>
            </a:r>
            <a:r>
              <a:rPr lang="en-GB" sz="2000" dirty="0">
                <a:latin typeface="Calibri"/>
                <a:cs typeface="Calibri"/>
              </a:rPr>
              <a:t>whereby</a:t>
            </a:r>
            <a:r>
              <a:rPr lang="en-GB" sz="2000" spc="-3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the</a:t>
            </a:r>
            <a:r>
              <a:rPr lang="en-GB" sz="2000" spc="-2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Founders</a:t>
            </a:r>
            <a:r>
              <a:rPr lang="en-GB" sz="2000" spc="-2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can</a:t>
            </a:r>
            <a:r>
              <a:rPr lang="en-GB" sz="2000" spc="-1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focus</a:t>
            </a:r>
            <a:r>
              <a:rPr lang="en-GB" sz="2000" spc="-1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on</a:t>
            </a:r>
            <a:r>
              <a:rPr lang="en-GB" sz="2000" spc="-20" dirty="0">
                <a:latin typeface="Calibri"/>
                <a:cs typeface="Calibri"/>
              </a:rPr>
              <a:t> </a:t>
            </a:r>
            <a:r>
              <a:rPr lang="en-GB" sz="2000" spc="-10" dirty="0">
                <a:latin typeface="Calibri"/>
                <a:cs typeface="Calibri"/>
              </a:rPr>
              <a:t>proper 	</a:t>
            </a:r>
            <a:r>
              <a:rPr lang="en-GB" sz="2000" dirty="0">
                <a:latin typeface="Calibri"/>
                <a:cs typeface="Calibri"/>
              </a:rPr>
              <a:t>operations</a:t>
            </a:r>
            <a:r>
              <a:rPr lang="en-GB" sz="2000" spc="-3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and</a:t>
            </a:r>
            <a:r>
              <a:rPr lang="en-GB" sz="2000" spc="-30" dirty="0">
                <a:latin typeface="Calibri"/>
                <a:cs typeface="Calibri"/>
              </a:rPr>
              <a:t> </a:t>
            </a:r>
            <a:r>
              <a:rPr lang="en-GB" sz="2000" spc="-10" dirty="0">
                <a:latin typeface="Calibri"/>
                <a:cs typeface="Calibri"/>
              </a:rPr>
              <a:t>growth.</a:t>
            </a:r>
            <a:endParaRPr lang="en-GB" sz="2000" dirty="0">
              <a:latin typeface="Calibri"/>
              <a:cs typeface="Calibri"/>
            </a:endParaRPr>
          </a:p>
          <a:p>
            <a:pPr marL="351790" indent="-339090" algn="just">
              <a:lnSpc>
                <a:spcPct val="100000"/>
              </a:lnSpc>
              <a:buFont typeface="Arial MT"/>
              <a:buChar char="•"/>
              <a:tabLst>
                <a:tab pos="351790" algn="l"/>
              </a:tabLst>
            </a:pPr>
            <a:r>
              <a:rPr lang="en-GB" sz="2000" dirty="0">
                <a:latin typeface="Calibri"/>
                <a:cs typeface="Calibri"/>
              </a:rPr>
              <a:t>At</a:t>
            </a:r>
            <a:r>
              <a:rPr lang="en-GB" sz="2000" spc="130" dirty="0">
                <a:latin typeface="Calibri"/>
                <a:cs typeface="Calibri"/>
              </a:rPr>
              <a:t> </a:t>
            </a:r>
            <a:r>
              <a:rPr lang="en-GB" sz="2000" b="1" dirty="0">
                <a:solidFill>
                  <a:srgbClr val="001F5F"/>
                </a:solidFill>
                <a:latin typeface="Calibri"/>
                <a:cs typeface="Calibri"/>
              </a:rPr>
              <a:t>EGL</a:t>
            </a:r>
            <a:r>
              <a:rPr lang="en-GB" sz="2000" dirty="0">
                <a:latin typeface="Calibri"/>
                <a:cs typeface="Calibri"/>
              </a:rPr>
              <a:t>,</a:t>
            </a:r>
            <a:r>
              <a:rPr lang="en-GB" sz="2000" spc="13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we</a:t>
            </a:r>
            <a:r>
              <a:rPr lang="en-GB" sz="2000" spc="11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can</a:t>
            </a:r>
            <a:r>
              <a:rPr lang="en-GB" sz="2000" spc="12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provide</a:t>
            </a:r>
            <a:r>
              <a:rPr lang="en-GB" sz="2000" spc="12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fund</a:t>
            </a:r>
            <a:r>
              <a:rPr lang="en-GB" sz="2000" spc="120" dirty="0">
                <a:latin typeface="Calibri"/>
                <a:cs typeface="Calibri"/>
              </a:rPr>
              <a:t> </a:t>
            </a:r>
            <a:r>
              <a:rPr lang="en-GB" sz="2000" spc="-10" dirty="0" smtClean="0">
                <a:latin typeface="Calibri"/>
                <a:cs typeface="Calibri"/>
              </a:rPr>
              <a:t>management</a:t>
            </a:r>
            <a:r>
              <a:rPr lang="en-GB" sz="2000" dirty="0" smtClean="0">
                <a:latin typeface="Calibri"/>
                <a:cs typeface="Calibri"/>
              </a:rPr>
              <a:t> support</a:t>
            </a:r>
            <a:r>
              <a:rPr lang="en-GB" sz="2000" spc="-35" dirty="0" smtClean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via</a:t>
            </a:r>
            <a:r>
              <a:rPr lang="en-GB" sz="2000" spc="-1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our</a:t>
            </a:r>
            <a:r>
              <a:rPr lang="en-GB" sz="2000" spc="-30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setup</a:t>
            </a:r>
            <a:r>
              <a:rPr lang="en-GB" sz="2000" spc="-1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in</a:t>
            </a:r>
            <a:r>
              <a:rPr lang="en-GB" sz="2000" spc="-30" dirty="0">
                <a:latin typeface="Calibri"/>
                <a:cs typeface="Calibri"/>
              </a:rPr>
              <a:t> </a:t>
            </a:r>
            <a:r>
              <a:rPr lang="en-GB" sz="2000" spc="-10" dirty="0">
                <a:latin typeface="Calibri"/>
                <a:cs typeface="Calibri"/>
              </a:rPr>
              <a:t>Singapore.</a:t>
            </a:r>
            <a:endParaRPr lang="en-GB" sz="2000" dirty="0">
              <a:latin typeface="Calibri"/>
              <a:cs typeface="Calibri"/>
            </a:endParaRPr>
          </a:p>
          <a:p>
            <a:pPr algn="just"/>
            <a:endParaRPr lang="en-US" sz="2000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 txBox="1">
            <a:spLocks/>
          </p:cNvSpPr>
          <p:nvPr/>
        </p:nvSpPr>
        <p:spPr>
          <a:xfrm>
            <a:off x="807489" y="657782"/>
            <a:ext cx="10648458" cy="5184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dirty="0" smtClean="0">
                <a:solidFill>
                  <a:schemeClr val="bg1"/>
                </a:solidFill>
              </a:rPr>
              <a:t>Venture management &amp; Strategic Partnerships</a:t>
            </a:r>
            <a:endParaRPr lang="en-US" sz="36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974082" y="2514872"/>
            <a:ext cx="20544" cy="4170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08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6" y="750545"/>
            <a:ext cx="11520487" cy="755649"/>
          </a:xfrm>
        </p:spPr>
        <p:txBody>
          <a:bodyPr/>
          <a:lstStyle/>
          <a:p>
            <a:r>
              <a:rPr lang="en-GB" dirty="0" smtClean="0"/>
              <a:t>Our Strategic Partners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201793" y="2498104"/>
            <a:ext cx="11690169" cy="4543720"/>
          </a:xfrm>
        </p:spPr>
        <p:txBody>
          <a:bodyPr>
            <a:normAutofit lnSpcReduction="10000"/>
          </a:bodyPr>
          <a:lstStyle/>
          <a:p>
            <a:pPr marL="457200" indent="-457200" algn="just">
              <a:buAutoNum type="arabicPeriod"/>
            </a:pPr>
            <a:r>
              <a:rPr lang="en-GB" dirty="0" smtClean="0"/>
              <a:t>Whitespace, Canada: </a:t>
            </a:r>
            <a:r>
              <a:rPr lang="en-GB" b="0" dirty="0" smtClean="0"/>
              <a:t>This is a strategic collaboration that focuses on tech development, system integration and project partnership for a diverse range of technology based projects. </a:t>
            </a:r>
            <a:r>
              <a:rPr lang="en-GB" b="0" dirty="0" smtClean="0">
                <a:hlinkClick r:id="rId2"/>
              </a:rPr>
              <a:t>www.whitespaceint.ca</a:t>
            </a:r>
            <a:endParaRPr lang="en-GB" b="0" dirty="0" smtClean="0"/>
          </a:p>
          <a:p>
            <a:pPr marL="457200" indent="-457200" algn="just">
              <a:buAutoNum type="arabicPeriod"/>
            </a:pPr>
            <a:r>
              <a:rPr lang="en-GB" dirty="0" smtClean="0"/>
              <a:t>Zenith Advisory, </a:t>
            </a:r>
            <a:r>
              <a:rPr lang="en-GB" dirty="0"/>
              <a:t>S</a:t>
            </a:r>
            <a:r>
              <a:rPr lang="en-GB" dirty="0" smtClean="0"/>
              <a:t>ingapore:</a:t>
            </a:r>
            <a:r>
              <a:rPr lang="en-GB" b="0" dirty="0" smtClean="0"/>
              <a:t> Zenith </a:t>
            </a:r>
            <a:r>
              <a:rPr lang="en-GB" b="0" dirty="0"/>
              <a:t>i</a:t>
            </a:r>
            <a:r>
              <a:rPr lang="en-GB" b="0" dirty="0" smtClean="0"/>
              <a:t>s a corporate services and fund </a:t>
            </a:r>
            <a:r>
              <a:rPr lang="en-GB" b="0" dirty="0"/>
              <a:t>management provider. </a:t>
            </a:r>
            <a:r>
              <a:rPr lang="en-GB" b="0" dirty="0">
                <a:hlinkClick r:id="rId3"/>
              </a:rPr>
              <a:t>https://</a:t>
            </a:r>
            <a:r>
              <a:rPr lang="en-GB" b="0" dirty="0" smtClean="0">
                <a:hlinkClick r:id="rId3"/>
              </a:rPr>
              <a:t>www.zenith-ventureadvisory.com</a:t>
            </a:r>
            <a:endParaRPr lang="en-GB" b="0" dirty="0" smtClean="0"/>
          </a:p>
          <a:p>
            <a:pPr marL="457200" indent="-457200" algn="just">
              <a:buAutoNum type="arabicPeriod"/>
            </a:pPr>
            <a:r>
              <a:rPr lang="en-GB" dirty="0" err="1" smtClean="0"/>
              <a:t>AltiusApp</a:t>
            </a:r>
            <a:r>
              <a:rPr lang="en-GB" dirty="0" smtClean="0"/>
              <a:t>, Bangladesh:</a:t>
            </a:r>
            <a:r>
              <a:rPr lang="en-GB" b="0" dirty="0" smtClean="0"/>
              <a:t> </a:t>
            </a:r>
            <a:r>
              <a:rPr lang="en-GB" b="0" dirty="0" err="1" smtClean="0"/>
              <a:t>Altius</a:t>
            </a:r>
            <a:r>
              <a:rPr lang="en-GB" b="0" dirty="0" smtClean="0"/>
              <a:t> offers health training, curated diet and personalised fighting training at home and preferred locations. </a:t>
            </a:r>
          </a:p>
          <a:p>
            <a:pPr marL="457200" indent="-457200" algn="just">
              <a:buAutoNum type="arabicPeriod"/>
            </a:pPr>
            <a:r>
              <a:rPr lang="en-GB" dirty="0" err="1" smtClean="0"/>
              <a:t>Citius</a:t>
            </a:r>
            <a:r>
              <a:rPr lang="en-GB" dirty="0" smtClean="0"/>
              <a:t> Training, </a:t>
            </a:r>
            <a:r>
              <a:rPr lang="en-GB" dirty="0"/>
              <a:t>B</a:t>
            </a:r>
            <a:r>
              <a:rPr lang="en-GB" dirty="0" smtClean="0"/>
              <a:t>angladesh:</a:t>
            </a:r>
            <a:r>
              <a:rPr lang="en-GB" b="0" dirty="0" smtClean="0"/>
              <a:t> </a:t>
            </a:r>
            <a:r>
              <a:rPr lang="en-GB" b="0" dirty="0" err="1" smtClean="0"/>
              <a:t>Citius</a:t>
            </a:r>
            <a:r>
              <a:rPr lang="en-GB" b="0" dirty="0" smtClean="0"/>
              <a:t> is a training and upskilling platform offering globally acclaimed certification and programs for skill development and the vocational sectors.</a:t>
            </a:r>
          </a:p>
          <a:p>
            <a:pPr marL="457200" indent="-457200" algn="just">
              <a:buAutoNum type="arabicPeriod"/>
            </a:pPr>
            <a:r>
              <a:rPr lang="en-GB" dirty="0" err="1" smtClean="0"/>
              <a:t>Fortius</a:t>
            </a:r>
            <a:r>
              <a:rPr lang="en-GB" dirty="0" smtClean="0"/>
              <a:t> Engineering Services, Turkey:</a:t>
            </a:r>
            <a:r>
              <a:rPr lang="en-GB" b="0" dirty="0" smtClean="0"/>
              <a:t> </a:t>
            </a:r>
            <a:r>
              <a:rPr lang="en-GB" b="0" dirty="0" err="1" smtClean="0"/>
              <a:t>Fortius</a:t>
            </a:r>
            <a:r>
              <a:rPr lang="en-GB" b="0" dirty="0" smtClean="0"/>
              <a:t> offers engineering and EPC based services to it’s clientele in collaboration with EGL. </a:t>
            </a:r>
          </a:p>
          <a:p>
            <a:pPr marL="457200" indent="-457200" algn="just">
              <a:buAutoNum type="arabicPeriod"/>
            </a:pPr>
            <a:r>
              <a:rPr lang="en-GB" dirty="0" smtClean="0"/>
              <a:t>Orient Healthcare, Global</a:t>
            </a:r>
            <a:r>
              <a:rPr lang="en-GB" b="0" dirty="0" smtClean="0"/>
              <a:t>: This is a health platform that offers diagnostic and pharmaceutical services in partnership with hospitals on ground. The company also offers medical tourism and mental health support. </a:t>
            </a:r>
          </a:p>
          <a:p>
            <a:pPr marL="457200" indent="-457200" algn="just">
              <a:buAutoNum type="arabicPeriod"/>
            </a:pPr>
            <a:r>
              <a:rPr lang="en-GB" dirty="0" smtClean="0"/>
              <a:t>Ural Air, Bangladesh:</a:t>
            </a:r>
            <a:r>
              <a:rPr lang="en-GB" b="0" dirty="0" smtClean="0"/>
              <a:t> This is a private airline, the first of its kind in Bangladesh. The airline is scheduled to commence operations from December 2026 and is pending flight operation permits\partnerships. </a:t>
            </a:r>
          </a:p>
          <a:p>
            <a:pPr marL="457200" indent="-457200" algn="just">
              <a:buAutoNum type="arabicPeriod"/>
            </a:pPr>
            <a:endParaRPr lang="en-GB" b="0" dirty="0" smtClean="0"/>
          </a:p>
          <a:p>
            <a:pPr marL="457200" indent="-457200" algn="just">
              <a:buAutoNum type="arabicPeriod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0708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1397</Words>
  <Application>Microsoft Office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Arial MT</vt:lpstr>
      <vt:lpstr>Calibri</vt:lpstr>
      <vt:lpstr>Calibri Light</vt:lpstr>
      <vt:lpstr>Wingdings</vt:lpstr>
      <vt:lpstr>Office Theme</vt:lpstr>
      <vt:lpstr>Introduction</vt:lpstr>
      <vt:lpstr>Mission   We aim to serve our clients strength to strength. </vt:lpstr>
      <vt:lpstr>Who we are</vt:lpstr>
      <vt:lpstr>Our Global footprint and responsibility matrix </vt:lpstr>
      <vt:lpstr>Our leadership team </vt:lpstr>
      <vt:lpstr>Our core management team </vt:lpstr>
      <vt:lpstr>Our core operations team </vt:lpstr>
      <vt:lpstr>Our core activities </vt:lpstr>
      <vt:lpstr>Our key competencies for Project Management </vt:lpstr>
      <vt:lpstr>PowerPoint Presentation</vt:lpstr>
      <vt:lpstr>  Our stakeholders’ procedure:</vt:lpstr>
      <vt:lpstr>Our key expertise  </vt:lpstr>
      <vt:lpstr>Our core activities </vt:lpstr>
      <vt:lpstr>PowerPoint Presentation</vt:lpstr>
      <vt:lpstr>Our Strategic Partners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Faisal Sarker</dc:creator>
  <cp:lastModifiedBy>Faisal Sarker</cp:lastModifiedBy>
  <cp:revision>17</cp:revision>
  <dcterms:created xsi:type="dcterms:W3CDTF">2026-09-17T05:17:41Z</dcterms:created>
  <dcterms:modified xsi:type="dcterms:W3CDTF">2026-09-23T22:57:57Z</dcterms:modified>
</cp:coreProperties>
</file>